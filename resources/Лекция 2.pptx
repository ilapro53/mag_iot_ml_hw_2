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2"/>
  </p:notesMasterIdLst>
  <p:sldIdLst>
    <p:sldId id="344" r:id="rId2"/>
    <p:sldId id="360" r:id="rId3"/>
    <p:sldId id="361" r:id="rId4"/>
    <p:sldId id="362" r:id="rId5"/>
    <p:sldId id="363" r:id="rId6"/>
    <p:sldId id="364" r:id="rId7"/>
    <p:sldId id="401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402" r:id="rId19"/>
    <p:sldId id="375" r:id="rId20"/>
    <p:sldId id="376" r:id="rId21"/>
    <p:sldId id="377" r:id="rId22"/>
    <p:sldId id="403" r:id="rId23"/>
    <p:sldId id="378" r:id="rId24"/>
    <p:sldId id="405" r:id="rId25"/>
    <p:sldId id="406" r:id="rId26"/>
    <p:sldId id="404" r:id="rId27"/>
    <p:sldId id="407" r:id="rId28"/>
    <p:sldId id="408" r:id="rId29"/>
    <p:sldId id="409" r:id="rId30"/>
    <p:sldId id="410" r:id="rId31"/>
    <p:sldId id="411" r:id="rId32"/>
    <p:sldId id="412" r:id="rId33"/>
    <p:sldId id="413" r:id="rId34"/>
    <p:sldId id="414" r:id="rId35"/>
    <p:sldId id="415" r:id="rId36"/>
    <p:sldId id="379" r:id="rId37"/>
    <p:sldId id="382" r:id="rId38"/>
    <p:sldId id="384" r:id="rId39"/>
    <p:sldId id="400" r:id="rId40"/>
    <p:sldId id="348" r:id="rId41"/>
  </p:sldIdLst>
  <p:sldSz cx="12960350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сновные стили" id="{9C5DBF73-5C8C-8D4C-BB54-DF085EC13081}">
          <p14:sldIdLst>
            <p14:sldId id="344"/>
            <p14:sldId id="360"/>
            <p14:sldId id="361"/>
            <p14:sldId id="362"/>
            <p14:sldId id="363"/>
            <p14:sldId id="364"/>
            <p14:sldId id="401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402"/>
            <p14:sldId id="375"/>
            <p14:sldId id="376"/>
            <p14:sldId id="377"/>
            <p14:sldId id="403"/>
            <p14:sldId id="378"/>
            <p14:sldId id="405"/>
            <p14:sldId id="406"/>
            <p14:sldId id="404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379"/>
            <p14:sldId id="382"/>
            <p14:sldId id="384"/>
            <p14:sldId id="400"/>
            <p14:sldId id="348"/>
          </p14:sldIdLst>
        </p14:section>
        <p14:section name="Финальные слайды" id="{4145BB14-2156-2145-AF78-8B8681ECBF5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40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0125"/>
    <a:srgbClr val="A30236"/>
    <a:srgbClr val="3F5CBD"/>
    <a:srgbClr val="FF5C36"/>
    <a:srgbClr val="E6E6E6"/>
    <a:srgbClr val="AFABAB"/>
    <a:srgbClr val="879DC1"/>
    <a:srgbClr val="12A3AD"/>
    <a:srgbClr val="FF941A"/>
    <a:srgbClr val="EC9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0"/>
    <p:restoredTop sz="94807"/>
  </p:normalViewPr>
  <p:slideViewPr>
    <p:cSldViewPr snapToGrid="0">
      <p:cViewPr varScale="1">
        <p:scale>
          <a:sx n="105" d="100"/>
          <a:sy n="105" d="100"/>
        </p:scale>
        <p:origin x="762" y="108"/>
      </p:cViewPr>
      <p:guideLst>
        <p:guide orient="horz" pos="2154"/>
        <p:guide pos="40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B0AE3-F1A2-394F-BC18-67F76EFC1EC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06413" y="1143000"/>
            <a:ext cx="5845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9C60B-6F98-8646-A41A-70FA44D3BD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32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9">
            <a:extLst>
              <a:ext uri="{FF2B5EF4-FFF2-40B4-BE49-F238E27FC236}">
                <a16:creationId xmlns:a16="http://schemas.microsoft.com/office/drawing/2014/main" id="{ACD4A90A-0ABE-7243-8908-72C5650992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15" name="Прямоугольник 4">
            <a:extLst>
              <a:ext uri="{FF2B5EF4-FFF2-40B4-BE49-F238E27FC236}">
                <a16:creationId xmlns:a16="http://schemas.microsoft.com/office/drawing/2014/main" id="{1A77197B-380D-644E-9B90-7284D14AEC8D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3E39C7-B630-C841-B628-08298DD98766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2023</a:t>
            </a:r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BDB2FD8-6949-594D-AF72-5CE0FDE67F6D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7F7827-21D6-5054-F4C6-CF3F1E1A33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02204" y="0"/>
            <a:ext cx="1058146" cy="6840538"/>
          </a:xfrm>
          <a:prstGeom prst="rect">
            <a:avLst/>
          </a:prstGeom>
        </p:spPr>
      </p:pic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CD2E3BB0-99F5-1045-9ADB-5FF98D234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7191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54" userDrawn="1">
          <p15:clr>
            <a:srgbClr val="FBAE40"/>
          </p15:clr>
        </p15:guide>
        <p15:guide id="3" pos="4082" userDrawn="1">
          <p15:clr>
            <a:srgbClr val="FBAE40"/>
          </p15:clr>
        </p15:guide>
        <p15:guide id="4" orient="horz" pos="38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9">
            <a:extLst>
              <a:ext uri="{FF2B5EF4-FFF2-40B4-BE49-F238E27FC236}">
                <a16:creationId xmlns:a16="http://schemas.microsoft.com/office/drawing/2014/main" id="{64B41069-4AAD-8340-8EFB-180ACA586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8" name="Прямоугольник 4">
            <a:extLst>
              <a:ext uri="{FF2B5EF4-FFF2-40B4-BE49-F238E27FC236}">
                <a16:creationId xmlns:a16="http://schemas.microsoft.com/office/drawing/2014/main" id="{F7727723-4074-B843-AE36-885B2303F4FE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E95950-E595-F342-9D21-3C47BD20DFED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2023</a:t>
            </a:r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8ECB9-5CD4-CC42-91B8-0D89C488BB7E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CD2E3BB0-99F5-1045-9ADB-5FF98D234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050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54">
          <p15:clr>
            <a:srgbClr val="FBAE40"/>
          </p15:clr>
        </p15:guide>
        <p15:guide id="3" pos="4082">
          <p15:clr>
            <a:srgbClr val="FBAE40"/>
          </p15:clr>
        </p15:guide>
        <p15:guide id="4" orient="horz" pos="38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9">
            <a:extLst>
              <a:ext uri="{FF2B5EF4-FFF2-40B4-BE49-F238E27FC236}">
                <a16:creationId xmlns:a16="http://schemas.microsoft.com/office/drawing/2014/main" id="{B72F114E-335E-2040-801E-3C7EC39A3E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8" name="Прямоугольник 4">
            <a:extLst>
              <a:ext uri="{FF2B5EF4-FFF2-40B4-BE49-F238E27FC236}">
                <a16:creationId xmlns:a16="http://schemas.microsoft.com/office/drawing/2014/main" id="{F3B94890-3C49-7044-A8F0-B3DB12C28D12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A9BBD-B777-C149-9777-05247593E1E0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2023</a:t>
            </a:r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C569F4-D248-7041-9278-341700D6083F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0044" y="1119505"/>
            <a:ext cx="9720263" cy="2381521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3592866"/>
            <a:ext cx="9720263" cy="1651546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FABD-BCBD-544A-9118-89D15D7C2332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06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9">
            <a:extLst>
              <a:ext uri="{FF2B5EF4-FFF2-40B4-BE49-F238E27FC236}">
                <a16:creationId xmlns:a16="http://schemas.microsoft.com/office/drawing/2014/main" id="{A031F8E3-48A7-4044-944A-7FEEE130F6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9" name="Прямоугольник 4">
            <a:extLst>
              <a:ext uri="{FF2B5EF4-FFF2-40B4-BE49-F238E27FC236}">
                <a16:creationId xmlns:a16="http://schemas.microsoft.com/office/drawing/2014/main" id="{CC740624-9786-3F40-BE2D-E443C76C8EC7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FE944-F30B-544E-B5A4-8FA81A6D7A96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2023</a:t>
            </a:r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5D4700-313E-CB48-82C9-205F0B4F41DB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0000" y="919197"/>
            <a:ext cx="8649708" cy="535138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1303" y="2751909"/>
            <a:ext cx="6696892" cy="2492503"/>
          </a:xfrm>
        </p:spPr>
        <p:txBody>
          <a:bodyPr>
            <a:normAutofit/>
          </a:bodyPr>
          <a:lstStyle>
            <a:lvl1pPr marL="0" indent="0" algn="l">
              <a:buNone/>
              <a:defRPr sz="3600" b="1">
                <a:solidFill>
                  <a:schemeClr val="accent1"/>
                </a:solidFill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B5067-034C-ED4C-9B2B-00BE7ADE8DA8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7AD485B-A56F-E148-9785-EA3C38C11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0113" y="1625000"/>
            <a:ext cx="2916079" cy="4304162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18915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1174A10-18C0-D846-8F03-C9CC6AC7354A}"/>
              </a:ext>
            </a:extLst>
          </p:cNvPr>
          <p:cNvSpPr/>
          <p:nvPr userDrawn="1"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00547" y="2269024"/>
            <a:ext cx="6871063" cy="2492503"/>
          </a:xfrm>
        </p:spPr>
        <p:txBody>
          <a:bodyPr>
            <a:normAutofit/>
          </a:bodyPr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C6C5C-8715-4349-9C7D-F129E2D2F817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Прямоугольник 4">
            <a:extLst>
              <a:ext uri="{FF2B5EF4-FFF2-40B4-BE49-F238E27FC236}">
                <a16:creationId xmlns:a16="http://schemas.microsoft.com/office/drawing/2014/main" id="{6863F21F-0FD5-0D4F-9EDF-1CEFC7A813EE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003E"/>
                </a:solidFill>
              </a:defRPr>
            </a:lvl1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584FD3-82FB-1645-920D-FB8B68AFF8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28"/>
          <a:stretch/>
        </p:blipFill>
        <p:spPr>
          <a:xfrm>
            <a:off x="10684390" y="-1"/>
            <a:ext cx="1950721" cy="9761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6C3D01-CF25-E947-ABB7-B55A2D418229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2023</a:t>
            </a:r>
            <a:endParaRPr lang="ru-RU" sz="14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CAB093-8887-BF49-8EA5-92B2D72B9517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0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9">
            <a:extLst>
              <a:ext uri="{FF2B5EF4-FFF2-40B4-BE49-F238E27FC236}">
                <a16:creationId xmlns:a16="http://schemas.microsoft.com/office/drawing/2014/main" id="{E42B6E17-3CA0-A44E-A15A-7A8C6D151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9" name="Прямоугольник 4">
            <a:extLst>
              <a:ext uri="{FF2B5EF4-FFF2-40B4-BE49-F238E27FC236}">
                <a16:creationId xmlns:a16="http://schemas.microsoft.com/office/drawing/2014/main" id="{CAE1ECE3-AE58-EF4B-9404-CEF7D3739127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C5649B-D563-7A42-ADA0-AC0ECE1EBBD4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4F3F24-E8BA-7348-890A-4EB2A401046B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0000" y="900000"/>
            <a:ext cx="9576679" cy="714358"/>
          </a:xfrm>
        </p:spPr>
        <p:txBody>
          <a:bodyPr anchor="t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B2D4-E0FF-0948-BCEC-0F713D78CA44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35B661-A620-6B4A-8A9C-FCEE63525CAE}"/>
              </a:ext>
            </a:extLst>
          </p:cNvPr>
          <p:cNvSpPr txBox="1">
            <a:spLocks/>
          </p:cNvSpPr>
          <p:nvPr userDrawn="1"/>
        </p:nvSpPr>
        <p:spPr>
          <a:xfrm>
            <a:off x="-33970" y="266377"/>
            <a:ext cx="937565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22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9">
            <a:extLst>
              <a:ext uri="{FF2B5EF4-FFF2-40B4-BE49-F238E27FC236}">
                <a16:creationId xmlns:a16="http://schemas.microsoft.com/office/drawing/2014/main" id="{00F513B3-241A-5644-9CD0-08969C8509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9" name="Прямоугольник 4">
            <a:extLst>
              <a:ext uri="{FF2B5EF4-FFF2-40B4-BE49-F238E27FC236}">
                <a16:creationId xmlns:a16="http://schemas.microsoft.com/office/drawing/2014/main" id="{9DB0A6DB-F31A-A343-BF05-360492CB83BF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384103-0CD4-E641-A9AE-B808169DCE7C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19AD7C-9E4C-BC47-9C84-6A2E4F3FD078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0000" y="900000"/>
            <a:ext cx="9627700" cy="740592"/>
          </a:xfrm>
        </p:spPr>
        <p:txBody>
          <a:bodyPr anchor="t" anchorCtr="0"/>
          <a:lstStyle>
            <a:lvl1pPr>
              <a:defRPr sz="3192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0995" y="1674796"/>
            <a:ext cx="7726642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13" y="1625000"/>
            <a:ext cx="2916079" cy="4304162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03EC4-AEDB-A546-B9B7-585538AAD3C7}" type="datetime1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80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9">
            <a:extLst>
              <a:ext uri="{FF2B5EF4-FFF2-40B4-BE49-F238E27FC236}">
                <a16:creationId xmlns:a16="http://schemas.microsoft.com/office/drawing/2014/main" id="{82FB6434-E9A9-A141-89AC-B38A0E2073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10" name="Прямоугольник 4">
            <a:extLst>
              <a:ext uri="{FF2B5EF4-FFF2-40B4-BE49-F238E27FC236}">
                <a16:creationId xmlns:a16="http://schemas.microsoft.com/office/drawing/2014/main" id="{D954ACBC-1461-8F49-8A62-25BE7C807B19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5D89A-CBD9-1747-8A24-211A119C1CB5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87A918-407B-4D42-98BB-5B3D0F5839E2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0000" y="864000"/>
            <a:ext cx="9627700" cy="740592"/>
          </a:xfrm>
        </p:spPr>
        <p:txBody>
          <a:bodyPr anchor="t" anchorCtr="0"/>
          <a:lstStyle>
            <a:lvl1pPr>
              <a:defRPr sz="3192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0995" y="1674796"/>
            <a:ext cx="3638348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13" y="1625000"/>
            <a:ext cx="2916079" cy="4304162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6139-3C51-544D-A275-589F7A7E6369}" type="datetime1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47FAB26-A65D-A241-B811-CFF044D18B1A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8383605" y="1674796"/>
            <a:ext cx="3638348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4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F7329FE-F5D1-374D-B109-65B84655D2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11" name="Прямоугольник 4">
            <a:extLst>
              <a:ext uri="{FF2B5EF4-FFF2-40B4-BE49-F238E27FC236}">
                <a16:creationId xmlns:a16="http://schemas.microsoft.com/office/drawing/2014/main" id="{263CFD3C-F777-DA4D-BC37-116E29B7A220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772282-7CE5-9B49-B848-BF7E6632BBB4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7AA82A-8CAD-7945-8DF4-19C7F478AB03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92713" y="900000"/>
            <a:ext cx="9627700" cy="740592"/>
          </a:xfrm>
        </p:spPr>
        <p:txBody>
          <a:bodyPr anchor="t" anchorCtr="0"/>
          <a:lstStyle>
            <a:lvl1pPr>
              <a:defRPr sz="3192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0995" y="1674796"/>
            <a:ext cx="2321062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13" y="1625000"/>
            <a:ext cx="2916079" cy="4304162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2F27-2E9A-5E43-AA18-A5B944132F59}" type="datetime1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47FAB26-A65D-A241-B811-CFF044D18B1A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7019109" y="1674796"/>
            <a:ext cx="2321062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79F780C-3DBF-7240-9736-987FCF93B284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9701349" y="1674796"/>
            <a:ext cx="2321062" cy="425436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65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9">
            <a:extLst>
              <a:ext uri="{FF2B5EF4-FFF2-40B4-BE49-F238E27FC236}">
                <a16:creationId xmlns:a16="http://schemas.microsoft.com/office/drawing/2014/main" id="{312AC08A-0C3F-974B-BD93-826A868864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18" name="Прямоугольник 4">
            <a:extLst>
              <a:ext uri="{FF2B5EF4-FFF2-40B4-BE49-F238E27FC236}">
                <a16:creationId xmlns:a16="http://schemas.microsoft.com/office/drawing/2014/main" id="{D5800CC3-8BB1-6E4A-B449-86804D5C4D71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1EB201-11AF-9542-A909-0880047F2AF6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814AB4-58FB-AE44-9B65-2430CAFB56B2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92713" y="900000"/>
            <a:ext cx="9627700" cy="740592"/>
          </a:xfrm>
        </p:spPr>
        <p:txBody>
          <a:bodyPr anchor="t" anchorCtr="0"/>
          <a:lstStyle>
            <a:lvl1pPr>
              <a:defRPr sz="3192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0995" y="1674796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13" y="1625000"/>
            <a:ext cx="2916079" cy="4304162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FAC3-F2F2-2C4F-A0E5-E45C3D91474E}" type="datetime1">
              <a:rPr lang="ru-RU" smtClean="0"/>
              <a:t>21.04.2026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47FAB26-A65D-A241-B811-CFF044D18B1A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7019109" y="1674796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79F780C-3DBF-7240-9736-987FCF93B284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9701349" y="1674796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33C0F341-B7E5-3845-B426-CA74C3BDAE4F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4340995" y="4130613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1BDE5803-8086-B245-97C9-CAE368D49BE0}"/>
              </a:ext>
            </a:extLst>
          </p:cNvPr>
          <p:cNvSpPr>
            <a:spLocks noGrp="1" noChangeAspect="1"/>
          </p:cNvSpPr>
          <p:nvPr>
            <p:ph type="pic" idx="16"/>
          </p:nvPr>
        </p:nvSpPr>
        <p:spPr>
          <a:xfrm>
            <a:off x="7019109" y="4130613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6047B218-8FD4-6348-A347-47AB398FF2D4}"/>
              </a:ext>
            </a:extLst>
          </p:cNvPr>
          <p:cNvSpPr>
            <a:spLocks noGrp="1" noChangeAspect="1"/>
          </p:cNvSpPr>
          <p:nvPr>
            <p:ph type="pic" idx="17"/>
          </p:nvPr>
        </p:nvSpPr>
        <p:spPr>
          <a:xfrm>
            <a:off x="9701349" y="4130613"/>
            <a:ext cx="2321062" cy="1956678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1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9">
            <a:extLst>
              <a:ext uri="{FF2B5EF4-FFF2-40B4-BE49-F238E27FC236}">
                <a16:creationId xmlns:a16="http://schemas.microsoft.com/office/drawing/2014/main" id="{80D31F51-3F1C-8045-99BC-14A4D28EDA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8" name="Прямоугольник 4">
            <a:extLst>
              <a:ext uri="{FF2B5EF4-FFF2-40B4-BE49-F238E27FC236}">
                <a16:creationId xmlns:a16="http://schemas.microsoft.com/office/drawing/2014/main" id="{6901C6BE-CE43-1C49-A547-8D7E87965F71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769650-3A35-3642-883C-A870CBC46FCC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E4A2AA-05E3-7F4E-879C-E04CB11781C0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4" y="1705385"/>
            <a:ext cx="11178302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4" y="4577778"/>
            <a:ext cx="11178302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D0A1-1F54-6D46-B9B0-6ADD85C235EC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7464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9">
            <a:extLst>
              <a:ext uri="{FF2B5EF4-FFF2-40B4-BE49-F238E27FC236}">
                <a16:creationId xmlns:a16="http://schemas.microsoft.com/office/drawing/2014/main" id="{FFBF45D3-592B-3C42-AB8F-2FDFA93DD1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7" name="Прямоугольник 4">
            <a:extLst>
              <a:ext uri="{FF2B5EF4-FFF2-40B4-BE49-F238E27FC236}">
                <a16:creationId xmlns:a16="http://schemas.microsoft.com/office/drawing/2014/main" id="{29BDF7A5-C047-1149-97E2-5FF2F7C15BEB}"/>
              </a:ext>
            </a:extLst>
          </p:cNvPr>
          <p:cNvSpPr/>
          <p:nvPr userDrawn="1"/>
        </p:nvSpPr>
        <p:spPr>
          <a:xfrm>
            <a:off x="-3243" y="288565"/>
            <a:ext cx="894267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1ACB84-12E8-B04C-B361-EFA20FF74E23}"/>
              </a:ext>
            </a:extLst>
          </p:cNvPr>
          <p:cNvSpPr txBox="1"/>
          <p:nvPr userDrawn="1"/>
        </p:nvSpPr>
        <p:spPr>
          <a:xfrm>
            <a:off x="554399" y="6407916"/>
            <a:ext cx="615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202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2AF39C-AEEB-974B-9D14-519ED62E1CFE}"/>
              </a:ext>
            </a:extLst>
          </p:cNvPr>
          <p:cNvCxnSpPr/>
          <p:nvPr userDrawn="1"/>
        </p:nvCxnSpPr>
        <p:spPr>
          <a:xfrm>
            <a:off x="1258529" y="6571637"/>
            <a:ext cx="23034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49CDA-6D70-FA48-B8E7-6D7A153E7A07}" type="datetime1">
              <a:rPr lang="ru-RU" smtClean="0"/>
              <a:t>21.04.2026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48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6864" y="1616634"/>
            <a:ext cx="10423442" cy="2200943"/>
          </a:xfrm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6864" y="3971148"/>
            <a:ext cx="10423443" cy="819675"/>
          </a:xfrm>
        </p:spPr>
        <p:txBody>
          <a:bodyPr/>
          <a:lstStyle>
            <a:lvl1pPr marL="0" indent="0" algn="l">
              <a:buNone/>
              <a:defRPr sz="2394">
                <a:solidFill>
                  <a:schemeClr val="bg1"/>
                </a:solidFill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A16B-6D6F-7E43-8715-9A6C2BF58A22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21">
            <a:extLst>
              <a:ext uri="{FF2B5EF4-FFF2-40B4-BE49-F238E27FC236}">
                <a16:creationId xmlns:a16="http://schemas.microsoft.com/office/drawing/2014/main" id="{D5D3EC2F-7B9F-0D4F-B5B9-E23034A23E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8" name="Рисунок 13">
            <a:extLst>
              <a:ext uri="{FF2B5EF4-FFF2-40B4-BE49-F238E27FC236}">
                <a16:creationId xmlns:a16="http://schemas.microsoft.com/office/drawing/2014/main" id="{1BB3811F-5FB4-9A4D-A5EA-3D5E83D37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3760" y="329338"/>
            <a:ext cx="1862895" cy="819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16C21D-C47C-8E49-8ABF-DE72CA198984}"/>
              </a:ext>
            </a:extLst>
          </p:cNvPr>
          <p:cNvSpPr txBox="1"/>
          <p:nvPr userDrawn="1"/>
        </p:nvSpPr>
        <p:spPr>
          <a:xfrm rot="16200000">
            <a:off x="11761283" y="930593"/>
            <a:ext cx="690614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ru-RU" sz="1800" dirty="0">
                <a:solidFill>
                  <a:schemeClr val="bg1"/>
                </a:solidFill>
              </a:rPr>
              <a:t>2025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FBA60E-9DD6-E54E-A6C9-CFA5BB21B4C1}"/>
              </a:ext>
            </a:extLst>
          </p:cNvPr>
          <p:cNvCxnSpPr/>
          <p:nvPr userDrawn="1"/>
        </p:nvCxnSpPr>
        <p:spPr>
          <a:xfrm>
            <a:off x="12128268" y="1404850"/>
            <a:ext cx="0" cy="230262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C167B5-CF88-8F40-A4B5-CA8730DFE560}"/>
              </a:ext>
            </a:extLst>
          </p:cNvPr>
          <p:cNvSpPr txBox="1"/>
          <p:nvPr userDrawn="1"/>
        </p:nvSpPr>
        <p:spPr>
          <a:xfrm rot="16200000">
            <a:off x="11574784" y="5590478"/>
            <a:ext cx="1097102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600" spc="100" baseline="0" dirty="0" err="1">
                <a:solidFill>
                  <a:schemeClr val="bg1"/>
                </a:solidFill>
              </a:rPr>
              <a:t>РАНХиГС</a:t>
            </a:r>
            <a:endParaRPr lang="ru-RU" sz="1600" spc="1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525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Титульный слайд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6864" y="1616636"/>
            <a:ext cx="10423442" cy="2200943"/>
          </a:xfrm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6864" y="3971150"/>
            <a:ext cx="10423443" cy="819675"/>
          </a:xfrm>
        </p:spPr>
        <p:txBody>
          <a:bodyPr/>
          <a:lstStyle>
            <a:lvl1pPr marL="0" indent="0" algn="l">
              <a:buNone/>
              <a:defRPr sz="2394">
                <a:solidFill>
                  <a:schemeClr val="bg1"/>
                </a:solidFill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A16B-6D6F-7E43-8715-9A6C2BF58A22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21">
            <a:extLst>
              <a:ext uri="{FF2B5EF4-FFF2-40B4-BE49-F238E27FC236}">
                <a16:creationId xmlns:a16="http://schemas.microsoft.com/office/drawing/2014/main" id="{D5D3EC2F-7B9F-0D4F-B5B9-E23034A23E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8" name="Рисунок 13">
            <a:extLst>
              <a:ext uri="{FF2B5EF4-FFF2-40B4-BE49-F238E27FC236}">
                <a16:creationId xmlns:a16="http://schemas.microsoft.com/office/drawing/2014/main" id="{1BB3811F-5FB4-9A4D-A5EA-3D5E83D37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3760" y="329338"/>
            <a:ext cx="1862895" cy="819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16C21D-C47C-8E49-8ABF-DE72CA198984}"/>
              </a:ext>
            </a:extLst>
          </p:cNvPr>
          <p:cNvSpPr txBox="1"/>
          <p:nvPr userDrawn="1"/>
        </p:nvSpPr>
        <p:spPr>
          <a:xfrm rot="16200000">
            <a:off x="11761283" y="930593"/>
            <a:ext cx="690614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ru-RU" sz="1800" dirty="0">
                <a:solidFill>
                  <a:schemeClr val="bg1"/>
                </a:solidFill>
              </a:rPr>
              <a:t>2023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FBA60E-9DD6-E54E-A6C9-CFA5BB21B4C1}"/>
              </a:ext>
            </a:extLst>
          </p:cNvPr>
          <p:cNvCxnSpPr/>
          <p:nvPr userDrawn="1"/>
        </p:nvCxnSpPr>
        <p:spPr>
          <a:xfrm>
            <a:off x="12128268" y="1404850"/>
            <a:ext cx="0" cy="230262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C167B5-CF88-8F40-A4B5-CA8730DFE560}"/>
              </a:ext>
            </a:extLst>
          </p:cNvPr>
          <p:cNvSpPr txBox="1"/>
          <p:nvPr userDrawn="1"/>
        </p:nvSpPr>
        <p:spPr>
          <a:xfrm rot="16200000">
            <a:off x="11574784" y="5590478"/>
            <a:ext cx="1097102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600" spc="100" baseline="0" dirty="0" err="1">
                <a:solidFill>
                  <a:schemeClr val="bg1"/>
                </a:solidFill>
              </a:rPr>
              <a:t>РАНХиГС</a:t>
            </a:r>
            <a:endParaRPr lang="ru-RU" sz="1600" spc="1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894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Титульный слайд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6864" y="1616636"/>
            <a:ext cx="10423442" cy="2200943"/>
          </a:xfrm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6864" y="3971150"/>
            <a:ext cx="10423443" cy="819675"/>
          </a:xfrm>
        </p:spPr>
        <p:txBody>
          <a:bodyPr/>
          <a:lstStyle>
            <a:lvl1pPr marL="0" indent="0" algn="l">
              <a:buNone/>
              <a:defRPr sz="2394">
                <a:solidFill>
                  <a:schemeClr val="bg1"/>
                </a:solidFill>
              </a:defRPr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5A16B-6D6F-7E43-8715-9A6C2BF58A22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21">
            <a:extLst>
              <a:ext uri="{FF2B5EF4-FFF2-40B4-BE49-F238E27FC236}">
                <a16:creationId xmlns:a16="http://schemas.microsoft.com/office/drawing/2014/main" id="{D5D3EC2F-7B9F-0D4F-B5B9-E23034A23E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8" name="Рисунок 13">
            <a:extLst>
              <a:ext uri="{FF2B5EF4-FFF2-40B4-BE49-F238E27FC236}">
                <a16:creationId xmlns:a16="http://schemas.microsoft.com/office/drawing/2014/main" id="{1BB3811F-5FB4-9A4D-A5EA-3D5E83D37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3760" y="329338"/>
            <a:ext cx="1862895" cy="819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16C21D-C47C-8E49-8ABF-DE72CA198984}"/>
              </a:ext>
            </a:extLst>
          </p:cNvPr>
          <p:cNvSpPr txBox="1"/>
          <p:nvPr userDrawn="1"/>
        </p:nvSpPr>
        <p:spPr>
          <a:xfrm rot="16200000">
            <a:off x="11761283" y="930593"/>
            <a:ext cx="690614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ru-RU" sz="1800" dirty="0">
                <a:solidFill>
                  <a:schemeClr val="bg1"/>
                </a:solidFill>
              </a:rPr>
              <a:t>2023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FBA60E-9DD6-E54E-A6C9-CFA5BB21B4C1}"/>
              </a:ext>
            </a:extLst>
          </p:cNvPr>
          <p:cNvCxnSpPr/>
          <p:nvPr userDrawn="1"/>
        </p:nvCxnSpPr>
        <p:spPr>
          <a:xfrm>
            <a:off x="12128268" y="1404850"/>
            <a:ext cx="0" cy="2302626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C167B5-CF88-8F40-A4B5-CA8730DFE560}"/>
              </a:ext>
            </a:extLst>
          </p:cNvPr>
          <p:cNvSpPr txBox="1"/>
          <p:nvPr userDrawn="1"/>
        </p:nvSpPr>
        <p:spPr>
          <a:xfrm rot="16200000">
            <a:off x="11574784" y="5590478"/>
            <a:ext cx="1097102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600" spc="100" baseline="0" dirty="0" err="1">
                <a:solidFill>
                  <a:schemeClr val="bg1"/>
                </a:solidFill>
              </a:rPr>
              <a:t>РАНХиГС</a:t>
            </a:r>
            <a:endParaRPr lang="ru-RU" sz="1600" spc="1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170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900000"/>
            <a:ext cx="9576679" cy="7143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1820976"/>
            <a:ext cx="11205726" cy="4340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7084883"/>
            <a:ext cx="291607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57F375-12B8-4849-BF4D-9AACA101A6E6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0567" y="7084884"/>
            <a:ext cx="4374118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463" y="266377"/>
            <a:ext cx="738132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D4391C-B8C0-B24A-A837-31626741744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260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5" r:id="rId2"/>
    <p:sldLayoutId id="2147483673" r:id="rId3"/>
    <p:sldLayoutId id="2147483689" r:id="rId4"/>
    <p:sldLayoutId id="2147483690" r:id="rId5"/>
    <p:sldLayoutId id="2147483674" r:id="rId6"/>
    <p:sldLayoutId id="2147483681" r:id="rId7"/>
    <p:sldLayoutId id="2147483686" r:id="rId8"/>
    <p:sldLayoutId id="2147483687" r:id="rId9"/>
    <p:sldLayoutId id="2147483688" r:id="rId10"/>
    <p:sldLayoutId id="2147483675" r:id="rId11"/>
    <p:sldLayoutId id="2147483678" r:id="rId12"/>
    <p:sldLayoutId id="2147483684" r:id="rId13"/>
    <p:sldLayoutId id="2147483695" r:id="rId14"/>
    <p:sldLayoutId id="2147483696" r:id="rId15"/>
  </p:sldLayoutIdLst>
  <p:hf hdr="0" ftr="0" dt="0"/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2114" rtl="0" eaLnBrk="1" latinLnBrk="0" hangingPunct="1">
        <a:lnSpc>
          <a:spcPct val="100000"/>
        </a:lnSpc>
        <a:spcBef>
          <a:spcPts val="998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2114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2114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2114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defRPr sz="1200" kern="1200">
          <a:solidFill>
            <a:srgbClr val="6D6D6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0" indent="0" algn="l" defTabSz="912114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defRPr sz="1000" kern="1200">
          <a:solidFill>
            <a:srgbClr val="6D6D6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4" userDrawn="1">
          <p15:clr>
            <a:srgbClr val="F26B43"/>
          </p15:clr>
        </p15:guide>
        <p15:guide id="2" pos="4082" userDrawn="1">
          <p15:clr>
            <a:srgbClr val="F26B43"/>
          </p15:clr>
        </p15:guide>
        <p15:guide id="3" orient="horz" pos="385" userDrawn="1">
          <p15:clr>
            <a:srgbClr val="F26B43"/>
          </p15:clr>
        </p15:guide>
        <p15:guide id="4" orient="horz" pos="3969" userDrawn="1">
          <p15:clr>
            <a:srgbClr val="F26B43"/>
          </p15:clr>
        </p15:guide>
        <p15:guide id="5" pos="567" userDrawn="1">
          <p15:clr>
            <a:srgbClr val="F26B43"/>
          </p15:clr>
        </p15:guide>
        <p15:guide id="6" pos="76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83B779-785B-C549-98BC-FD63CEA37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417" y="2209157"/>
            <a:ext cx="10423443" cy="1211112"/>
          </a:xfrm>
        </p:spPr>
        <p:txBody>
          <a:bodyPr/>
          <a:lstStyle/>
          <a:p>
            <a:pPr algn="ctr"/>
            <a:br>
              <a:rPr lang="ru-RU" b="1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Машинное обучение для Интернета вещей и мобильных устройств </a:t>
            </a:r>
          </a:p>
          <a:p>
            <a:pPr algn="ctr"/>
            <a:r>
              <a:rPr lang="ru-RU" b="1" dirty="0">
                <a:solidFill>
                  <a:schemeClr val="tx1"/>
                </a:solidFill>
              </a:rPr>
              <a:t>Лекция </a:t>
            </a:r>
            <a:r>
              <a:rPr lang="en-US" b="1" dirty="0">
                <a:solidFill>
                  <a:schemeClr val="tx1"/>
                </a:solidFill>
              </a:rPr>
              <a:t>2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29D0BB-8804-7B41-9155-FB8E9E7E9C6A}"/>
              </a:ext>
            </a:extLst>
          </p:cNvPr>
          <p:cNvSpPr txBox="1"/>
          <p:nvPr/>
        </p:nvSpPr>
        <p:spPr>
          <a:xfrm>
            <a:off x="913800" y="6125935"/>
            <a:ext cx="2146926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Москва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54B461-B1EF-4C2F-B85C-61C1A216FF74}"/>
              </a:ext>
            </a:extLst>
          </p:cNvPr>
          <p:cNvSpPr txBox="1">
            <a:spLocks/>
          </p:cNvSpPr>
          <p:nvPr/>
        </p:nvSpPr>
        <p:spPr>
          <a:xfrm>
            <a:off x="5757964" y="6268932"/>
            <a:ext cx="1090706" cy="488214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21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ru-RU" sz="1600" dirty="0">
                <a:solidFill>
                  <a:schemeClr val="tx1"/>
                </a:solidFill>
              </a:rPr>
              <a:t>Москва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</a:rPr>
              <a:t>202</a:t>
            </a:r>
            <a:r>
              <a:rPr lang="en-US" sz="1600" dirty="0">
                <a:solidFill>
                  <a:schemeClr val="tx1"/>
                </a:solidFill>
              </a:rPr>
              <a:t>6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C5CF70-79B2-4A30-B2E2-979DD981D5A2}"/>
              </a:ext>
            </a:extLst>
          </p:cNvPr>
          <p:cNvSpPr txBox="1">
            <a:spLocks/>
          </p:cNvSpPr>
          <p:nvPr/>
        </p:nvSpPr>
        <p:spPr>
          <a:xfrm>
            <a:off x="1514638" y="5057820"/>
            <a:ext cx="10423443" cy="7485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2114" rtl="0" eaLnBrk="1" latinLnBrk="0" hangingPunct="1">
              <a:lnSpc>
                <a:spcPct val="100000"/>
              </a:lnSpc>
              <a:spcBef>
                <a:spcPts val="998"/>
              </a:spcBef>
              <a:buFont typeface="Arial" panose="020B0604020202020204" pitchFamily="34" charset="0"/>
              <a:buNone/>
              <a:defRPr sz="2394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6057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9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2114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7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68171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4228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0285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6342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2399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8456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ru-RU" sz="1600" dirty="0">
              <a:solidFill>
                <a:schemeClr val="tx1"/>
              </a:solidFill>
            </a:endParaRPr>
          </a:p>
          <a:p>
            <a:pPr algn="r"/>
            <a:r>
              <a:rPr lang="ru-RU" sz="1600" dirty="0">
                <a:solidFill>
                  <a:schemeClr val="tx1"/>
                </a:solidFill>
              </a:rPr>
              <a:t>Преподаватель: Бочкарёв Пётр Владимирович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03180E-FB5C-4CB7-9738-63947DF4B87F}"/>
              </a:ext>
            </a:extLst>
          </p:cNvPr>
          <p:cNvSpPr txBox="1">
            <a:spLocks/>
          </p:cNvSpPr>
          <p:nvPr/>
        </p:nvSpPr>
        <p:spPr>
          <a:xfrm>
            <a:off x="913800" y="194108"/>
            <a:ext cx="10423443" cy="2821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2114" rtl="0" eaLnBrk="1" latinLnBrk="0" hangingPunct="1">
              <a:lnSpc>
                <a:spcPct val="100000"/>
              </a:lnSpc>
              <a:spcBef>
                <a:spcPts val="998"/>
              </a:spcBef>
              <a:buFont typeface="Arial" panose="020B0604020202020204" pitchFamily="34" charset="0"/>
              <a:buNone/>
              <a:defRPr sz="2394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6057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9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2114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7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68171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4228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0285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6342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2399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8456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tx1"/>
                </a:solidFill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“РОССИЙСКАЯ АКАДЕМИЯ НАРОДНОГО ХОЗЯЙСТВА 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И ГОСУДАРСТВЕННОЙ СЛУЖБЫ при ПРЕЗИДЕНТЕ РОССИЙСКОЙ ФЕДЕРАЦИИ”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Институт экономики, математики и информационных технологий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Факультет информационных технологий и анализа данных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Кафедра системного анализа и информатики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 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2000" dirty="0">
                <a:solidFill>
                  <a:schemeClr val="tx1"/>
                </a:solidFill>
              </a:rPr>
            </a:br>
            <a:endParaRPr lang="ru-RU" b="1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53FB73-C0CA-45DC-9C1E-2C10FCBA219D}"/>
              </a:ext>
            </a:extLst>
          </p:cNvPr>
          <p:cNvSpPr/>
          <p:nvPr/>
        </p:nvSpPr>
        <p:spPr>
          <a:xfrm>
            <a:off x="3240087" y="3995543"/>
            <a:ext cx="6480175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200" dirty="0"/>
              <a:t>Направление подготовки: 09.04.03 Прикладная информатика</a:t>
            </a:r>
          </a:p>
          <a:p>
            <a:pPr algn="ctr"/>
            <a:r>
              <a:rPr lang="ru-RU" sz="1200" dirty="0"/>
              <a:t>Направленность (профиль) образовательной программы:</a:t>
            </a:r>
          </a:p>
          <a:p>
            <a:pPr algn="ctr"/>
            <a:r>
              <a:rPr lang="ru-RU" sz="1200" dirty="0"/>
              <a:t>«Анализ данных и искусственный интеллект»</a:t>
            </a:r>
          </a:p>
          <a:p>
            <a:pPr algn="ctr"/>
            <a:r>
              <a:rPr lang="ru-RU" sz="1200" dirty="0"/>
              <a:t>(очная форма обучения)</a:t>
            </a:r>
          </a:p>
        </p:txBody>
      </p:sp>
    </p:spTree>
    <p:extLst>
      <p:ext uri="{BB962C8B-B14F-4D97-AF65-F5344CB8AC3E}">
        <p14:creationId xmlns:p14="http://schemas.microsoft.com/office/powerpoint/2010/main" val="230268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143D-1273-9E46-B4B5-3AE5D5FF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DDF8-FD03-A5F5-B4E5-6C68659B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Введение в компьютерное зрение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05AA8-1BE9-D55A-52DC-C7F2F9421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8484397" cy="4288570"/>
          </a:xfrm>
        </p:spPr>
        <p:txBody>
          <a:bodyPr/>
          <a:lstStyle/>
          <a:p>
            <a:pPr algn="just"/>
            <a:r>
              <a:rPr lang="ru-RU" sz="2800" b="1" dirty="0">
                <a:solidFill>
                  <a:srgbClr val="2E2F30"/>
                </a:solidFill>
              </a:rPr>
              <a:t>Компьютерное зрение </a:t>
            </a:r>
            <a:r>
              <a:rPr lang="ru-RU" sz="2800" dirty="0">
                <a:solidFill>
                  <a:srgbClr val="2E2F30"/>
                </a:solidFill>
              </a:rPr>
              <a:t>— это область, занимающаяся тем, как компьютеры могут быть обучены извлекать информацию из изображений и видео, а также интерпретировать визуальные данные. Эта технология используется в различных приложениях, начиная от распознавания лиц и заканчивая анализом медицинских изображений. Компьютерное зрение позволяет системам "видеть" и понимать окружающий мир, что открывает новые горизонты для автоматизации и повышения эффективности.</a:t>
            </a:r>
            <a:endParaRPr lang="ru-RU" sz="28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43521C-5E32-7B36-4C09-9DD04C66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</a:t>
            </a:fld>
            <a:endParaRPr lang="ru-RU"/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36C6932E-0655-7848-D8EB-5E8909694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8" t="9219" r="6018" b="14765"/>
          <a:stretch/>
        </p:blipFill>
        <p:spPr bwMode="auto">
          <a:xfrm>
            <a:off x="9281160" y="1521336"/>
            <a:ext cx="3474720" cy="3242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814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20FCA-3429-4EBA-6E98-980F9EE8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6B327-4980-BFF9-EA1F-93F009FB2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Компьютерное зрение в </a:t>
            </a:r>
            <a:r>
              <a:rPr lang="ru-RU" dirty="0" err="1">
                <a:solidFill>
                  <a:srgbClr val="2E2F30"/>
                </a:solidFill>
              </a:rPr>
              <a:t>IoT</a:t>
            </a:r>
            <a:r>
              <a:rPr lang="ru-RU" dirty="0">
                <a:solidFill>
                  <a:srgbClr val="2E2F30"/>
                </a:solidFill>
              </a:rPr>
              <a:t> в различных областях: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5C367-06D3-6FD9-8EBC-048E112F6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8484397" cy="428857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2E2F30"/>
                </a:solidFill>
              </a:rPr>
              <a:t>Системы видеонаблюдения. </a:t>
            </a:r>
            <a:r>
              <a:rPr lang="ru-RU" sz="2000" dirty="0">
                <a:solidFill>
                  <a:srgbClr val="2E2F30"/>
                </a:solidFill>
              </a:rPr>
              <a:t>Алгоритмы компьютерного зрения анализируют видео в реальном времени, позволяя обнаруживать аномалии, такие как вторжения или подозрительное поведение.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2E2F30"/>
                </a:solidFill>
              </a:rPr>
              <a:t>Автономные транспортные средства. </a:t>
            </a:r>
            <a:r>
              <a:rPr lang="ru-RU" sz="2000" dirty="0">
                <a:solidFill>
                  <a:srgbClr val="2E2F30"/>
                </a:solidFill>
              </a:rPr>
              <a:t>Использование камер и датчиков для восприятия окружающей среды, включая распознавание дорожных знаков, пешеходов и других транспортных средств.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2E2F30"/>
                </a:solidFill>
                <a:effectLst/>
              </a:rPr>
              <a:t>Системы безопасности</a:t>
            </a:r>
            <a:r>
              <a:rPr lang="ru-RU" sz="2000" b="1" dirty="0">
                <a:solidFill>
                  <a:srgbClr val="2E2F30"/>
                </a:solidFill>
              </a:rPr>
              <a:t>. </a:t>
            </a:r>
            <a:r>
              <a:rPr lang="ru-RU" sz="2000" dirty="0">
                <a:solidFill>
                  <a:srgbClr val="2E2F30"/>
                </a:solidFill>
              </a:rPr>
              <a:t>Ра</a:t>
            </a:r>
            <a:r>
              <a:rPr lang="ru-RU" sz="2000" i="0" dirty="0">
                <a:solidFill>
                  <a:srgbClr val="2E2F30"/>
                </a:solidFill>
                <a:effectLst/>
              </a:rPr>
              <a:t>спознавание лиц и обнаружение вторжений обеспечивают повышенную безопасность в общественных местах и частных домах.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2E2F30"/>
                </a:solidFill>
                <a:effectLst/>
              </a:rPr>
              <a:t>Анализ поведения. </a:t>
            </a:r>
            <a:r>
              <a:rPr lang="ru-RU" sz="2000" i="0" dirty="0">
                <a:solidFill>
                  <a:srgbClr val="2E2F30"/>
                </a:solidFill>
                <a:effectLst/>
              </a:rPr>
              <a:t>Системы, отслеживающие движение людей и объектов, помогают оптимизировать торговые площади, улучшая покупательский опыт и увеличивая доходы бизнеса.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1017D7-D7C7-FEB2-52B1-52CFD05F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</a:t>
            </a:fld>
            <a:endParaRPr lang="ru-RU"/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F639851C-3CCE-233A-5828-F1DBD982C83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2243" y="1640592"/>
            <a:ext cx="3255413" cy="488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55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674E-47F8-F5D3-18C9-5BE028A8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F1B6-CB8A-DCD2-6C0C-692C3977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en-US" b="1" i="0" dirty="0">
                <a:solidFill>
                  <a:srgbClr val="2E2F30"/>
                </a:solidFill>
                <a:effectLst/>
                <a:latin typeface="system-ui"/>
              </a:rPr>
              <a:t>OpenCV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AB011-5642-F577-F29E-A939FC08C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4398" y="1640592"/>
            <a:ext cx="10743360" cy="4299946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 err="1">
                <a:solidFill>
                  <a:srgbClr val="2E2F30"/>
                </a:solidFill>
              </a:rPr>
              <a:t>OpenCV</a:t>
            </a:r>
            <a:r>
              <a:rPr lang="ru-RU" sz="2800" b="1" dirty="0">
                <a:solidFill>
                  <a:srgbClr val="2E2F30"/>
                </a:solidFill>
              </a:rPr>
              <a:t> </a:t>
            </a:r>
            <a:r>
              <a:rPr lang="ru-RU" sz="2800" dirty="0">
                <a:solidFill>
                  <a:srgbClr val="2E2F30"/>
                </a:solidFill>
              </a:rPr>
              <a:t>(Open Source Computer Vision Library) — это библиотека, предназначенная для обработки изображений и видео, а также для разработки приложений в области компьютерного зрения и машинного обучения</a:t>
            </a:r>
            <a:endParaRPr lang="ru-RU" sz="2800" b="1" dirty="0">
              <a:solidFill>
                <a:srgbClr val="2E2F3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 err="1">
                <a:solidFill>
                  <a:srgbClr val="2E2F30"/>
                </a:solidFill>
              </a:rPr>
              <a:t>OpenCV</a:t>
            </a:r>
            <a:r>
              <a:rPr lang="ru-RU" sz="2800" b="1" dirty="0">
                <a:solidFill>
                  <a:srgbClr val="2E2F30"/>
                </a:solidFill>
              </a:rPr>
              <a:t> </a:t>
            </a:r>
            <a:r>
              <a:rPr lang="ru-RU" sz="2800" dirty="0">
                <a:solidFill>
                  <a:srgbClr val="2E2F30"/>
                </a:solidFill>
              </a:rPr>
              <a:t>предоставляет инструменты для выполнения задач, таких как распознавание объектов, обработка изображений, анализ видео и многое другое. Библиотека поддерживает множество языков программирования, включая Python, C++ и Java</a:t>
            </a:r>
            <a:endParaRPr lang="en-US" sz="2800" dirty="0">
              <a:solidFill>
                <a:srgbClr val="2E2F3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Установка в </a:t>
            </a:r>
            <a:r>
              <a:rPr lang="en-US" sz="2800" dirty="0">
                <a:solidFill>
                  <a:srgbClr val="2E2F30"/>
                </a:solidFill>
              </a:rPr>
              <a:t>Python </a:t>
            </a:r>
            <a:r>
              <a:rPr lang="en-US" sz="2800" b="1" dirty="0">
                <a:solidFill>
                  <a:srgbClr val="2E2F30"/>
                </a:solidFill>
              </a:rPr>
              <a:t>!pip install </a:t>
            </a:r>
            <a:r>
              <a:rPr lang="en-US" sz="2800" b="1" dirty="0" err="1">
                <a:solidFill>
                  <a:srgbClr val="2E2F30"/>
                </a:solidFill>
              </a:rPr>
              <a:t>opencv</a:t>
            </a:r>
            <a:r>
              <a:rPr lang="en-US" sz="2800" b="1" dirty="0">
                <a:solidFill>
                  <a:srgbClr val="2E2F30"/>
                </a:solidFill>
              </a:rPr>
              <a:t>-python</a:t>
            </a:r>
            <a:endParaRPr lang="ru-RU" sz="2800" b="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99BDA-D977-6BEC-5DB9-4AC9E65D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901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C634-B84A-93CB-BA2F-A1C8D4E08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209A-701F-C5F3-E009-CD044CB9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Чтение и отображение изображений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73D81-6BBE-B9D9-77A6-82F6146E6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925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Изображение в контексте компьютера представляет собой массив данных, который хранит информацию о визуальных элементах. Основные аспекты изображения с точки зрения компьютера: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200" i="0" dirty="0">
                <a:solidFill>
                  <a:srgbClr val="2E2F30"/>
                </a:solidFill>
                <a:effectLst/>
              </a:rPr>
              <a:t>Изображение состоит из маленьких единиц, называемых пикселями. Каждый пиксель содержит информацию о цвете (например, красный, зеленый и синий в RGB) и яркости(для черно-белых изображениях пиксели представляют собой градации серого)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200" i="0" dirty="0">
                <a:solidFill>
                  <a:srgbClr val="2E2F30"/>
                </a:solidFill>
                <a:effectLst/>
              </a:rPr>
              <a:t>Изображения могут быть представлены в различных цветовых моделях. Например, RGB, CMYK, HSV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200" i="0" dirty="0">
                <a:solidFill>
                  <a:srgbClr val="2E2F30"/>
                </a:solidFill>
                <a:effectLst/>
              </a:rPr>
              <a:t>Размер изображения определяется количеством пикселей по ширине и высоте (например, 1920x1080). Разрешение указывает на количество пикселей на единицу площади и влияет на четкость и детализацию изображения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BAFA0-0B7F-0D90-EE22-0A263388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91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5E0F-46E2-037E-DA79-0C5CD61FB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9575-A9D3-1A79-0026-74CB1BB9A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Чтение и отображение изображений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7C933-9C51-7AE3-1BB3-FB1A25300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Функция</a:t>
            </a:r>
            <a:r>
              <a:rPr lang="ru-RU" sz="2800" b="1" dirty="0">
                <a:solidFill>
                  <a:srgbClr val="2E2F30"/>
                </a:solidFill>
              </a:rPr>
              <a:t> </a:t>
            </a:r>
            <a:r>
              <a:rPr lang="en-US" sz="2800" b="1" dirty="0">
                <a:solidFill>
                  <a:srgbClr val="2E2F30"/>
                </a:solidFill>
              </a:rPr>
              <a:t>cv2.imread(filename, flags) </a:t>
            </a:r>
            <a:r>
              <a:rPr lang="ru-RU" sz="2800" dirty="0">
                <a:solidFill>
                  <a:srgbClr val="2E2F30"/>
                </a:solidFill>
              </a:rPr>
              <a:t>используется для загрузки изображения из файла</a:t>
            </a:r>
            <a:endParaRPr lang="en-US" sz="2800" dirty="0">
              <a:solidFill>
                <a:srgbClr val="2E2F3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Параметры</a:t>
            </a:r>
            <a:r>
              <a:rPr lang="en-US" sz="2800" dirty="0">
                <a:solidFill>
                  <a:srgbClr val="2E2F30"/>
                </a:solidFill>
              </a:rPr>
              <a:t>:</a:t>
            </a:r>
            <a:endParaRPr lang="ru-RU" sz="2800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filename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 </a:t>
            </a:r>
            <a:r>
              <a:rPr lang="ru-RU" sz="2601" dirty="0">
                <a:solidFill>
                  <a:srgbClr val="2E2F30"/>
                </a:solidFill>
              </a:rPr>
              <a:t>п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уть к файлу изображения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flags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 режим чтения изображения:</a:t>
            </a:r>
          </a:p>
          <a:p>
            <a:pPr marL="1369314" lvl="2" indent="-457200" algn="just">
              <a:buFont typeface="Arial" panose="020B0604020202020204" pitchFamily="34" charset="0"/>
              <a:buChar char="•"/>
            </a:pPr>
            <a:r>
              <a:rPr lang="ru-RU" sz="2401" i="0" dirty="0">
                <a:solidFill>
                  <a:srgbClr val="2E2F30"/>
                </a:solidFill>
                <a:effectLst/>
              </a:rPr>
              <a:t>cv2.IMREAD_COLOR: загружает цветное изображение (по умолчанию).</a:t>
            </a:r>
          </a:p>
          <a:p>
            <a:pPr marL="1369314" lvl="2" indent="-457200" algn="just">
              <a:buFont typeface="Arial" panose="020B0604020202020204" pitchFamily="34" charset="0"/>
              <a:buChar char="•"/>
            </a:pPr>
            <a:r>
              <a:rPr lang="ru-RU" sz="2401" i="0" dirty="0">
                <a:solidFill>
                  <a:srgbClr val="2E2F30"/>
                </a:solidFill>
                <a:effectLst/>
              </a:rPr>
              <a:t>cv2.IMREAD_GRAYSCALE: загружает изображение в градациях серого.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43009-1F8E-6295-5649-0301E5129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837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0674-4D84-46C4-1F7D-573E736B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1D446-C6EA-188C-E42C-76E86E79B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Отображение изображений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01EE1-5F28-2D18-F028-068ADBAE6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850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Функция </a:t>
            </a:r>
            <a:r>
              <a:rPr lang="en-US" sz="2800" b="1" dirty="0">
                <a:solidFill>
                  <a:srgbClr val="2E2F30"/>
                </a:solidFill>
              </a:rPr>
              <a:t>cv2.imshow(</a:t>
            </a:r>
            <a:r>
              <a:rPr lang="en-US" sz="2800" b="1" dirty="0" err="1">
                <a:solidFill>
                  <a:srgbClr val="2E2F30"/>
                </a:solidFill>
              </a:rPr>
              <a:t>window_name</a:t>
            </a:r>
            <a:r>
              <a:rPr lang="en-US" sz="2800" b="1" dirty="0">
                <a:solidFill>
                  <a:srgbClr val="2E2F30"/>
                </a:solidFill>
              </a:rPr>
              <a:t>, image)</a:t>
            </a:r>
            <a:r>
              <a:rPr lang="ru-RU" sz="2800" dirty="0">
                <a:solidFill>
                  <a:srgbClr val="2E2F30"/>
                </a:solidFill>
              </a:rPr>
              <a:t> используется для отображения изображения в отдельном окне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Параметры</a:t>
            </a:r>
            <a:r>
              <a:rPr lang="en-US" sz="2800" dirty="0">
                <a:solidFill>
                  <a:srgbClr val="2E2F30"/>
                </a:solidFill>
              </a:rPr>
              <a:t>:</a:t>
            </a:r>
            <a:endParaRPr lang="ru-RU" sz="2800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window_name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окно, в котором будет отображаться изображение 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image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изображение, которое нужно отобразить</a:t>
            </a:r>
          </a:p>
          <a:p>
            <a:pPr marL="457200" lvl="1" indent="-457200" algn="just">
              <a:spcBef>
                <a:spcPts val="998"/>
              </a:spcBef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Использование </a:t>
            </a:r>
            <a:r>
              <a:rPr lang="ru-RU" sz="2800" dirty="0" err="1">
                <a:solidFill>
                  <a:srgbClr val="2E2F30"/>
                </a:solidFill>
              </a:rPr>
              <a:t>OpenCV</a:t>
            </a:r>
            <a:r>
              <a:rPr lang="ru-RU" sz="2800" dirty="0">
                <a:solidFill>
                  <a:srgbClr val="2E2F30"/>
                </a:solidFill>
              </a:rPr>
              <a:t> в Google </a:t>
            </a:r>
            <a:r>
              <a:rPr lang="ru-RU" sz="2800" dirty="0" err="1">
                <a:solidFill>
                  <a:srgbClr val="2E2F30"/>
                </a:solidFill>
              </a:rPr>
              <a:t>Colab</a:t>
            </a:r>
            <a:r>
              <a:rPr lang="ru-RU" sz="2800" dirty="0">
                <a:solidFill>
                  <a:srgbClr val="2E2F30"/>
                </a:solidFill>
              </a:rPr>
              <a:t>:</a:t>
            </a:r>
          </a:p>
          <a:p>
            <a:pPr marL="913257" lvl="2" indent="-457200" algn="just">
              <a:spcBef>
                <a:spcPts val="998"/>
              </a:spcBef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2E2F30"/>
                </a:solidFill>
              </a:rPr>
              <a:t>команда для установки пакета:</a:t>
            </a:r>
            <a:r>
              <a:rPr lang="en-US" sz="2600" dirty="0">
                <a:solidFill>
                  <a:srgbClr val="2E2F30"/>
                </a:solidFill>
              </a:rPr>
              <a:t> </a:t>
            </a:r>
            <a:r>
              <a:rPr lang="en-US" sz="2600" b="1" dirty="0">
                <a:solidFill>
                  <a:srgbClr val="2E2F30"/>
                </a:solidFill>
              </a:rPr>
              <a:t>from </a:t>
            </a:r>
            <a:r>
              <a:rPr lang="en-US" sz="2600" b="1" dirty="0" err="1">
                <a:solidFill>
                  <a:srgbClr val="2E2F30"/>
                </a:solidFill>
              </a:rPr>
              <a:t>google.colab.patches</a:t>
            </a:r>
            <a:r>
              <a:rPr lang="en-US" sz="2600" b="1" dirty="0">
                <a:solidFill>
                  <a:srgbClr val="2E2F30"/>
                </a:solidFill>
              </a:rPr>
              <a:t> import cv2_imshow</a:t>
            </a:r>
          </a:p>
          <a:p>
            <a:pPr marL="913257" lvl="2" indent="-457200" algn="just">
              <a:spcBef>
                <a:spcPts val="998"/>
              </a:spcBef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2E2F30"/>
                </a:solidFill>
              </a:rPr>
              <a:t>Функция</a:t>
            </a:r>
            <a:r>
              <a:rPr lang="ru-RU" sz="2600" b="1" dirty="0">
                <a:solidFill>
                  <a:srgbClr val="2E2F30"/>
                </a:solidFill>
              </a:rPr>
              <a:t> </a:t>
            </a:r>
            <a:r>
              <a:rPr lang="en-US" sz="2600" b="1" dirty="0">
                <a:solidFill>
                  <a:srgbClr val="2E2F30"/>
                </a:solidFill>
              </a:rPr>
              <a:t>cv2_imshow(image)</a:t>
            </a:r>
            <a:endParaRPr lang="ru-RU" sz="2600" b="1" dirty="0">
              <a:solidFill>
                <a:srgbClr val="2E2F30"/>
              </a:solidFill>
            </a:endParaRPr>
          </a:p>
          <a:p>
            <a:pPr marL="457200" lvl="2" indent="-457200" algn="just">
              <a:spcBef>
                <a:spcPts val="998"/>
              </a:spcBef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Сохранение изображений выполняется с помощью функции </a:t>
            </a:r>
            <a:r>
              <a:rPr lang="ru-RU" sz="2800" b="1" dirty="0">
                <a:solidFill>
                  <a:srgbClr val="2E2F30"/>
                </a:solidFill>
              </a:rPr>
              <a:t>cv2.imwrite()</a:t>
            </a:r>
            <a:r>
              <a:rPr lang="ru-RU" sz="2800" dirty="0">
                <a:solidFill>
                  <a:srgbClr val="2E2F30"/>
                </a:solidFill>
              </a:rPr>
              <a:t>, которая сохраняет изображение в указанном формате и по заданному пути</a:t>
            </a:r>
          </a:p>
          <a:p>
            <a:pPr marL="913257" lvl="2" indent="-457200" algn="just">
              <a:spcBef>
                <a:spcPts val="998"/>
              </a:spcBef>
              <a:buFont typeface="Arial" panose="020B0604020202020204" pitchFamily="34" charset="0"/>
              <a:buChar char="•"/>
            </a:pPr>
            <a:endParaRPr lang="ru-RU" sz="2600" b="1" dirty="0">
              <a:solidFill>
                <a:srgbClr val="2E2F3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9845D6-E52C-24F3-0A0F-57D3CB0F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30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5BFE-64BB-0E27-273F-A63D0C97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4DB8-35E3-76E2-D326-A03C9C0E4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Основные операции с изображениями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8F03F-F009-775E-D48F-287645ABB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Изменение размера изображений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E2F30"/>
                </a:solidFill>
                <a:effectLst/>
              </a:rPr>
              <a:t>Обрезка изображений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E2F30"/>
                </a:solidFill>
                <a:effectLst/>
              </a:rPr>
              <a:t>Поворот изображений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4CD8C-5438-CC95-614C-6B28E7F00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460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5ECA6-2DBD-B381-F286-2F7A9EE27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4676-56CF-5F4C-9BD7-674D54EB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Изменение размера изображений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B75BA-6F54-951F-DC15-D79EE4481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Для изменения размера изображений используется функция </a:t>
            </a:r>
            <a:r>
              <a:rPr lang="ru-RU" sz="2800" b="1" dirty="0">
                <a:solidFill>
                  <a:srgbClr val="2E2F30"/>
                </a:solidFill>
              </a:rPr>
              <a:t>cv2.resize(</a:t>
            </a:r>
            <a:r>
              <a:rPr lang="fr-FR" sz="2800" b="1" dirty="0">
                <a:solidFill>
                  <a:srgbClr val="2E2F30"/>
                </a:solidFill>
              </a:rPr>
              <a:t>image,(width, height</a:t>
            </a:r>
            <a:r>
              <a:rPr lang="ru-RU" sz="2800" b="1" dirty="0">
                <a:solidFill>
                  <a:srgbClr val="2E2F30"/>
                </a:solidFill>
              </a:rPr>
              <a:t>), </a:t>
            </a:r>
            <a:r>
              <a:rPr lang="ru-RU" sz="2800" dirty="0">
                <a:solidFill>
                  <a:srgbClr val="2E2F30"/>
                </a:solidFill>
              </a:rPr>
              <a:t>которая принимает новые размеры (ширину и высоту) и может масштабировать изображение, сохраняя его пропорции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Часто используется для подготовки изображений к обработке, так как многие алгоритмы требуют, чтобы входные изображения имели одинаковый размер</a:t>
            </a:r>
            <a:endParaRPr lang="ru-RU" sz="28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4DEB54-A6D2-783F-B326-8338088D4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390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4BCEA-01F6-DC2E-46D6-C674C81D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89EE-A1F2-BD59-B239-71BE38B9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Обрезка изображений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86DE8-017F-4BA0-BA91-F0E6A84FA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85000"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Обрезка изображений позволяет выделить интересующую область, определяемую координатами верхнего левого угла и размерами (шириной и высотой). Это позволяет сосредоточиться на конкретных объектах или регионах изображения</a:t>
            </a:r>
            <a:endParaRPr lang="en-US" sz="2800" dirty="0">
              <a:solidFill>
                <a:srgbClr val="2E2F3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Для обрезки изображений используется индексирование </a:t>
            </a:r>
            <a:r>
              <a:rPr lang="en-US" sz="2800" dirty="0">
                <a:solidFill>
                  <a:srgbClr val="2E2F30"/>
                </a:solidFill>
              </a:rPr>
              <a:t>NumPy, </a:t>
            </a:r>
            <a:r>
              <a:rPr lang="ru-RU" sz="2800" dirty="0">
                <a:solidFill>
                  <a:srgbClr val="2E2F30"/>
                </a:solidFill>
              </a:rPr>
              <a:t>т.е. </a:t>
            </a:r>
            <a:r>
              <a:rPr lang="ru-RU" sz="2800" i="0" dirty="0">
                <a:solidFill>
                  <a:srgbClr val="2E2F30"/>
                </a:solidFill>
                <a:effectLst/>
              </a:rPr>
              <a:t>формат </a:t>
            </a:r>
            <a:r>
              <a:rPr lang="ru-RU" sz="2800" i="0" dirty="0" err="1">
                <a:solidFill>
                  <a:srgbClr val="2E2F30"/>
                </a:solidFill>
                <a:effectLst/>
              </a:rPr>
              <a:t>image</a:t>
            </a:r>
            <a:r>
              <a:rPr lang="ru-RU" sz="2800" i="0" dirty="0">
                <a:solidFill>
                  <a:srgbClr val="2E2F30"/>
                </a:solidFill>
                <a:effectLst/>
              </a:rPr>
              <a:t>[</a:t>
            </a:r>
            <a:r>
              <a:rPr lang="ru-RU" sz="2800" i="0" dirty="0" err="1">
                <a:solidFill>
                  <a:srgbClr val="2E2F30"/>
                </a:solidFill>
                <a:effectLst/>
              </a:rPr>
              <a:t>y:y+h</a:t>
            </a:r>
            <a:r>
              <a:rPr lang="ru-RU" sz="2800" i="0" dirty="0">
                <a:solidFill>
                  <a:srgbClr val="2E2F30"/>
                </a:solidFill>
                <a:effectLst/>
              </a:rPr>
              <a:t>, x:x+w], где: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x: координата начала по оси X.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y: координата начала по оси Y.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w: ширина обрезаемой области.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h: высота обрезаемой области.</a:t>
            </a:r>
          </a:p>
          <a:p>
            <a:pPr lvl="1" algn="just"/>
            <a:r>
              <a:rPr lang="ru-RU" sz="2601" i="0" dirty="0">
                <a:solidFill>
                  <a:srgbClr val="2E2F30"/>
                </a:solidFill>
                <a:effectLst/>
              </a:rPr>
              <a:t>Например, для обрезки области 100x100 пикселей, начиная с координат (50, 50), код будет выглядеть так: 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cropped_image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 = 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image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[50:150, 50:150].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667457-05C4-78F3-D164-97941159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57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B7627-85E3-8ECE-C45F-000BCBF37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3311-3C77-C99A-2908-1AF06CFFB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Поворот изображений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5A423-8D37-917F-A1BC-BDD667AB6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700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Поворот изображений реализуется с использованием матрицы преобразования, созданной с помощью функции </a:t>
            </a:r>
            <a:r>
              <a:rPr lang="ru-RU" sz="2800" b="1" dirty="0">
                <a:solidFill>
                  <a:srgbClr val="2E2F30"/>
                </a:solidFill>
              </a:rPr>
              <a:t>cv2.getRotationMatrix2D(). </a:t>
            </a:r>
            <a:r>
              <a:rPr lang="ru-RU" sz="2800" dirty="0">
                <a:solidFill>
                  <a:srgbClr val="2E2F30"/>
                </a:solidFill>
              </a:rPr>
              <a:t>Данная матрица описывает параметры поворота, такие как угол и центр поворота. Функция </a:t>
            </a:r>
            <a:r>
              <a:rPr lang="ru-RU" sz="2800" b="1" dirty="0">
                <a:solidFill>
                  <a:srgbClr val="2E2F30"/>
                </a:solidFill>
              </a:rPr>
              <a:t>cv2.warpAffine()</a:t>
            </a:r>
            <a:r>
              <a:rPr lang="ru-RU" sz="2800" dirty="0">
                <a:solidFill>
                  <a:srgbClr val="2E2F30"/>
                </a:solidFill>
              </a:rPr>
              <a:t> применяет это преобразование к изображению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Поворот используют для выравнивания изображений или изменения их ориентации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E2F30"/>
                </a:solidFill>
                <a:effectLst/>
              </a:rPr>
              <a:t>cv2.getRotationMatrix2D(</a:t>
            </a:r>
            <a:r>
              <a:rPr lang="ru-RU" sz="2800" b="1" i="0" dirty="0" err="1">
                <a:solidFill>
                  <a:srgbClr val="2E2F30"/>
                </a:solidFill>
                <a:effectLst/>
              </a:rPr>
              <a:t>center</a:t>
            </a:r>
            <a:r>
              <a:rPr lang="ru-RU" sz="2800" b="1" i="0" dirty="0">
                <a:solidFill>
                  <a:srgbClr val="2E2F30"/>
                </a:solidFill>
                <a:effectLst/>
              </a:rPr>
              <a:t>, </a:t>
            </a:r>
            <a:r>
              <a:rPr lang="ru-RU" sz="2800" b="1" i="0" dirty="0" err="1">
                <a:solidFill>
                  <a:srgbClr val="2E2F30"/>
                </a:solidFill>
                <a:effectLst/>
              </a:rPr>
              <a:t>angle</a:t>
            </a:r>
            <a:r>
              <a:rPr lang="ru-RU" sz="2800" b="1" i="0" dirty="0">
                <a:solidFill>
                  <a:srgbClr val="2E2F30"/>
                </a:solidFill>
                <a:effectLst/>
              </a:rPr>
              <a:t>, </a:t>
            </a:r>
            <a:r>
              <a:rPr lang="ru-RU" sz="2800" b="1" i="0" dirty="0" err="1">
                <a:solidFill>
                  <a:srgbClr val="2E2F30"/>
                </a:solidFill>
                <a:effectLst/>
              </a:rPr>
              <a:t>scale</a:t>
            </a:r>
            <a:r>
              <a:rPr lang="ru-RU" sz="2800" b="1" i="0" dirty="0">
                <a:solidFill>
                  <a:srgbClr val="2E2F30"/>
                </a:solidFill>
                <a:effectLst/>
              </a:rPr>
              <a:t>):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center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кортеж (x, y), указывающий центр поворота изображения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angle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угол поворота в градусах (положительные значения означают поворот против часовой стрелки)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scale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Множитель масштаба (обычно 1.0, если не требуется масштабирование)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E2F30"/>
                </a:solidFill>
                <a:effectLst/>
              </a:rPr>
              <a:t>cv2.warpAffine(</a:t>
            </a:r>
            <a:r>
              <a:rPr lang="ru-RU" sz="2800" b="1" i="0" dirty="0" err="1">
                <a:solidFill>
                  <a:srgbClr val="2E2F30"/>
                </a:solidFill>
                <a:effectLst/>
              </a:rPr>
              <a:t>src</a:t>
            </a:r>
            <a:r>
              <a:rPr lang="ru-RU" sz="2800" b="1" i="0" dirty="0">
                <a:solidFill>
                  <a:srgbClr val="2E2F30"/>
                </a:solidFill>
                <a:effectLst/>
              </a:rPr>
              <a:t>, M, </a:t>
            </a:r>
            <a:r>
              <a:rPr lang="ru-RU" sz="2800" b="1" i="0" dirty="0" err="1">
                <a:solidFill>
                  <a:srgbClr val="2E2F30"/>
                </a:solidFill>
                <a:effectLst/>
              </a:rPr>
              <a:t>dsize</a:t>
            </a:r>
            <a:r>
              <a:rPr lang="ru-RU" sz="2800" b="1" i="0" dirty="0">
                <a:solidFill>
                  <a:srgbClr val="2E2F30"/>
                </a:solidFill>
                <a:effectLst/>
              </a:rPr>
              <a:t>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src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исходное изображение (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NumPy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 массив)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M: матрица преобразования, полученная из cv2.getRotationMatrix2D()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dsize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кортеж (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width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, 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height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), определяющий размер выходного изображения.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6D3B09-E8B7-9188-CA33-132B4245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785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39275-4CD9-909E-4D85-A92AF7073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85EC-FD15-34C3-55AC-9DCF8AC17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Преобразование цветового пространства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A4613-43EB-D19C-5386-76513CBEF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Конвертация в серый цвет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E2F30"/>
                </a:solidFill>
                <a:effectLst/>
              </a:rPr>
              <a:t>Другие цветовые пространства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E2F30"/>
                </a:solidFill>
                <a:effectLst/>
              </a:rPr>
              <a:t>Применение цветовых фильтров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2B561-D0CA-6E9C-D0F7-DE79A670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360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72A37-E516-B0A5-6E79-5F7EEBD73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08A-B203-2493-560B-BF4E2B2D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Конвертация в серый цвет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469CC-137A-10BA-AD65-EEAC212FB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Преобразование цветного изображения в оттенки серого выполняется с помощью функции</a:t>
            </a:r>
            <a:r>
              <a:rPr lang="ru-RU" sz="2800" b="1" dirty="0">
                <a:solidFill>
                  <a:srgbClr val="2E2F30"/>
                </a:solidFill>
              </a:rPr>
              <a:t> cv2.cvtColor(</a:t>
            </a:r>
            <a:r>
              <a:rPr lang="ru-RU" sz="2800" i="0" dirty="0" err="1">
                <a:solidFill>
                  <a:srgbClr val="2E2F30"/>
                </a:solidFill>
                <a:effectLst/>
              </a:rPr>
              <a:t>src</a:t>
            </a:r>
            <a:r>
              <a:rPr lang="en-US" sz="2800" i="0" dirty="0">
                <a:solidFill>
                  <a:srgbClr val="2E2F30"/>
                </a:solidFill>
                <a:effectLst/>
              </a:rPr>
              <a:t>, </a:t>
            </a:r>
            <a:r>
              <a:rPr lang="ru-RU" sz="2800" i="0" dirty="0" err="1">
                <a:solidFill>
                  <a:srgbClr val="2E2F30"/>
                </a:solidFill>
                <a:effectLst/>
              </a:rPr>
              <a:t>code</a:t>
            </a:r>
            <a:r>
              <a:rPr lang="ru-RU" sz="2800" b="1" dirty="0">
                <a:solidFill>
                  <a:srgbClr val="2E2F30"/>
                </a:solidFill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Используется для упрощения анализа изображений и уменьшения вычислительных затрат, так как работа с одним каналом (оттенками серого) требует меньше ресурсов, чем с тремя каналами (RGB)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i="0" dirty="0">
                <a:solidFill>
                  <a:srgbClr val="2E2F30"/>
                </a:solidFill>
                <a:effectLst/>
              </a:rPr>
              <a:t>Параметры: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src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исходное изображение (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NumPy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 массив).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code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код, определяющий тип преобразования. Для конвертации в серый цвет используется cv2.COLOR_BGR2GRAY (или cv2.COLOR_RGB2GRAY, в зависимости от порядка цветовых каналов)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BA3DC0-0854-5065-D86A-A6B80F59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596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5A323-3646-BAE9-0B0A-84F46D9F8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33459-4000-E75F-612C-063A2441F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Другие цветовые пространства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45F61-2A9E-BFCB-7AEC-E6C544CA7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62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Для преобразование изображения в другие цветовые пространства также используется функция </a:t>
            </a:r>
            <a:r>
              <a:rPr lang="ru-RU" sz="2800" b="1" dirty="0">
                <a:solidFill>
                  <a:srgbClr val="2E2F30"/>
                </a:solidFill>
              </a:rPr>
              <a:t>cv2.cvtColor(</a:t>
            </a:r>
            <a:r>
              <a:rPr lang="ru-RU" sz="2800" i="0" dirty="0" err="1">
                <a:solidFill>
                  <a:srgbClr val="2E2F30"/>
                </a:solidFill>
                <a:effectLst/>
              </a:rPr>
              <a:t>src</a:t>
            </a:r>
            <a:r>
              <a:rPr lang="en-US" sz="2800" i="0" dirty="0">
                <a:solidFill>
                  <a:srgbClr val="2E2F30"/>
                </a:solidFill>
                <a:effectLst/>
              </a:rPr>
              <a:t>, </a:t>
            </a:r>
            <a:r>
              <a:rPr lang="ru-RU" sz="2800" i="0" dirty="0" err="1">
                <a:solidFill>
                  <a:srgbClr val="2E2F30"/>
                </a:solidFill>
                <a:effectLst/>
              </a:rPr>
              <a:t>code</a:t>
            </a:r>
            <a:r>
              <a:rPr lang="ru-RU" sz="2800" b="1" dirty="0">
                <a:solidFill>
                  <a:srgbClr val="2E2F30"/>
                </a:solidFill>
              </a:rPr>
              <a:t>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>
                <a:solidFill>
                  <a:srgbClr val="2E2F30"/>
                </a:solidFill>
              </a:rPr>
              <a:t>BGR (Blue, Green, Red)</a:t>
            </a:r>
            <a:r>
              <a:rPr lang="en-US" sz="2601" dirty="0">
                <a:solidFill>
                  <a:srgbClr val="2E2F30"/>
                </a:solidFill>
              </a:rPr>
              <a:t> : </a:t>
            </a:r>
            <a:r>
              <a:rPr lang="ru-RU" sz="2601" dirty="0">
                <a:solidFill>
                  <a:srgbClr val="2E2F30"/>
                </a:solidFill>
              </a:rPr>
              <a:t>стандартное цветовое пространство. Изображения хранятся в формате BGR, где каждый пиксель представлен тремя значениями, соответствующими интенсивности синего, зеленого и красного цветов. Часто требуется преобразования из BGR в RGB (для отображения в других библиотеках) (</a:t>
            </a:r>
            <a:r>
              <a:rPr lang="en-US" sz="2601" dirty="0">
                <a:solidFill>
                  <a:srgbClr val="2E2F30"/>
                </a:solidFill>
              </a:rPr>
              <a:t>cv2.COLOR_BGR2RGB</a:t>
            </a:r>
            <a:r>
              <a:rPr lang="ru-RU" sz="2601" dirty="0">
                <a:solidFill>
                  <a:srgbClr val="2E2F30"/>
                </a:solidFill>
              </a:rPr>
              <a:t>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en-US" sz="2601" b="1" dirty="0">
                <a:solidFill>
                  <a:srgbClr val="2E2F30"/>
                </a:solidFill>
              </a:rPr>
              <a:t>HSV (Hue, Saturation, Value)</a:t>
            </a:r>
            <a:r>
              <a:rPr lang="en-US" sz="2601" dirty="0">
                <a:solidFill>
                  <a:srgbClr val="2E2F30"/>
                </a:solidFill>
              </a:rPr>
              <a:t> </a:t>
            </a:r>
            <a:r>
              <a:rPr lang="ru-RU" sz="2601" dirty="0">
                <a:solidFill>
                  <a:srgbClr val="2E2F30"/>
                </a:solidFill>
              </a:rPr>
              <a:t>: цветовое пространство, которое разделяет цвет (оттенок) от яркости. </a:t>
            </a:r>
            <a:r>
              <a:rPr lang="en-US" sz="2601" dirty="0">
                <a:solidFill>
                  <a:srgbClr val="2E2F30"/>
                </a:solidFill>
              </a:rPr>
              <a:t>Hue (</a:t>
            </a:r>
            <a:r>
              <a:rPr lang="ru-RU" sz="2601" dirty="0">
                <a:solidFill>
                  <a:srgbClr val="2E2F30"/>
                </a:solidFill>
              </a:rPr>
              <a:t>оттенок) определяет цвет, </a:t>
            </a:r>
            <a:r>
              <a:rPr lang="en-US" sz="2601" dirty="0">
                <a:solidFill>
                  <a:srgbClr val="2E2F30"/>
                </a:solidFill>
              </a:rPr>
              <a:t>Saturation (</a:t>
            </a:r>
            <a:r>
              <a:rPr lang="ru-RU" sz="2601" dirty="0">
                <a:solidFill>
                  <a:srgbClr val="2E2F30"/>
                </a:solidFill>
              </a:rPr>
              <a:t>насыщенность) — интенсивность цвета, </a:t>
            </a:r>
            <a:r>
              <a:rPr lang="en-US" sz="2601" dirty="0">
                <a:solidFill>
                  <a:srgbClr val="2E2F30"/>
                </a:solidFill>
              </a:rPr>
              <a:t>Value (</a:t>
            </a:r>
            <a:r>
              <a:rPr lang="ru-RU" sz="2601" dirty="0">
                <a:solidFill>
                  <a:srgbClr val="2E2F30"/>
                </a:solidFill>
              </a:rPr>
              <a:t>яркость) — светлоту. Это пространство удобно для задач, связанных с сегментацией по цвету. Код для </a:t>
            </a:r>
            <a:r>
              <a:rPr lang="en-US" sz="2601" dirty="0" err="1">
                <a:solidFill>
                  <a:srgbClr val="2E2F30"/>
                </a:solidFill>
              </a:rPr>
              <a:t>cvtColor</a:t>
            </a:r>
            <a:r>
              <a:rPr lang="en-US" sz="2601" dirty="0">
                <a:solidFill>
                  <a:srgbClr val="2E2F30"/>
                </a:solidFill>
              </a:rPr>
              <a:t>: cv2.COLOR_BGR2HSV</a:t>
            </a:r>
            <a:endParaRPr lang="ru-RU" sz="2601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>
                <a:solidFill>
                  <a:srgbClr val="2E2F30"/>
                </a:solidFill>
              </a:rPr>
              <a:t>LAB (CIE Lab)</a:t>
            </a:r>
            <a:r>
              <a:rPr lang="ru-RU" sz="2601" dirty="0">
                <a:solidFill>
                  <a:srgbClr val="2E2F30"/>
                </a:solidFill>
              </a:rPr>
              <a:t> : цветовое пространство, которое пытается быть более близким к восприятию цвета человеком. Оно разделяет яркость (L) от цветовых компонентов (a и b), что делает его полезным для задач, связанных с цветовой коррекцией и анализом. Код для </a:t>
            </a:r>
            <a:r>
              <a:rPr lang="ru-RU" sz="2601" dirty="0" err="1">
                <a:solidFill>
                  <a:srgbClr val="2E2F30"/>
                </a:solidFill>
              </a:rPr>
              <a:t>cvtColor</a:t>
            </a:r>
            <a:r>
              <a:rPr lang="ru-RU" sz="2601" dirty="0">
                <a:solidFill>
                  <a:srgbClr val="2E2F30"/>
                </a:solidFill>
              </a:rPr>
              <a:t>: сv2.COLOR_BGR2Lab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>
                <a:solidFill>
                  <a:srgbClr val="2E2F30"/>
                </a:solidFill>
              </a:rPr>
              <a:t>YUV</a:t>
            </a:r>
            <a:r>
              <a:rPr lang="ru-RU" sz="2601" dirty="0">
                <a:solidFill>
                  <a:srgbClr val="2E2F30"/>
                </a:solidFill>
              </a:rPr>
              <a:t> : цветовое пространство, которое разделяет яркость (Y) и цветовые компоненты (U и V). Это пространство часто используется в видеообработке и сжатии, так как позволяет более эффективно кодировать изображения. Код для </a:t>
            </a:r>
            <a:r>
              <a:rPr lang="ru-RU" sz="2601" dirty="0" err="1">
                <a:solidFill>
                  <a:srgbClr val="2E2F30"/>
                </a:solidFill>
              </a:rPr>
              <a:t>cvtColor</a:t>
            </a:r>
            <a:r>
              <a:rPr lang="ru-RU" sz="2601" dirty="0">
                <a:solidFill>
                  <a:srgbClr val="2E2F30"/>
                </a:solidFill>
              </a:rPr>
              <a:t>: cv2.COLOR_BGR2YUV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YCrCb</a:t>
            </a:r>
            <a:r>
              <a:rPr lang="ru-RU" sz="2601" dirty="0">
                <a:solidFill>
                  <a:srgbClr val="2E2F30"/>
                </a:solidFill>
              </a:rPr>
              <a:t> : цветовое пространство разделяет яркость и цветовые компоненты, но используется в основном в цифровом видео и телевидении. Позволяет более эффективно сжимать данные, .так как человеческий глаз менее чувствителен к изменениям в цвете, чем в яркости. Код для </a:t>
            </a:r>
            <a:r>
              <a:rPr lang="ru-RU" sz="2601" dirty="0" err="1">
                <a:solidFill>
                  <a:srgbClr val="2E2F30"/>
                </a:solidFill>
              </a:rPr>
              <a:t>cvtColor</a:t>
            </a:r>
            <a:r>
              <a:rPr lang="ru-RU" sz="2601" dirty="0">
                <a:solidFill>
                  <a:srgbClr val="2E2F30"/>
                </a:solidFill>
              </a:rPr>
              <a:t>: cv2.COLOR_BGR2YCrCb</a:t>
            </a:r>
            <a:endParaRPr lang="ru-RU" sz="2402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26280-E3AF-1EB7-75F0-8ED8C33C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843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59A11-0ADB-4432-8418-B8413FF89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7D66-EFDC-322A-0AC8-5F3A830C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Применение цветовых фильтров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798CA-0FCE-715B-8B3E-280E2BB1D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850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Цветовые фильтры позволяют выделять определенные цвета на изображении, что полезно для задач сегментации и распознавания объектов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Функция </a:t>
            </a:r>
            <a:r>
              <a:rPr lang="ru-RU" sz="2800" b="1" dirty="0">
                <a:solidFill>
                  <a:srgbClr val="2E2F30"/>
                </a:solidFill>
              </a:rPr>
              <a:t>cv2.inRange() </a:t>
            </a:r>
            <a:r>
              <a:rPr lang="ru-RU" sz="2800" dirty="0">
                <a:solidFill>
                  <a:srgbClr val="2E2F30"/>
                </a:solidFill>
              </a:rPr>
              <a:t>создает маску, которая выделяет пиксели, попадающие в заданный диапазон цветовых значений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i="0" dirty="0">
                <a:solidFill>
                  <a:srgbClr val="2E2F30"/>
                </a:solidFill>
                <a:effectLst/>
              </a:rPr>
              <a:t>Параметры: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src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исходное изображение 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lowerb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нижняя граница диапазона цвета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upperb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верхняя граница диапазона цвета</a:t>
            </a:r>
          </a:p>
          <a:p>
            <a:pPr lvl="1" algn="just"/>
            <a:r>
              <a:rPr lang="ru-RU" sz="2601" dirty="0">
                <a:solidFill>
                  <a:srgbClr val="2E2F30"/>
                </a:solidFill>
              </a:rPr>
              <a:t>Пример: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en-US" sz="2601" i="0" dirty="0" err="1">
                <a:solidFill>
                  <a:srgbClr val="2E2F30"/>
                </a:solidFill>
                <a:effectLst/>
              </a:rPr>
              <a:t>hsv_image</a:t>
            </a:r>
            <a:r>
              <a:rPr lang="en-US" sz="2601" i="0" dirty="0">
                <a:solidFill>
                  <a:srgbClr val="2E2F30"/>
                </a:solidFill>
                <a:effectLst/>
              </a:rPr>
              <a:t> = cv2.cvtColor(image, cv2.COLOR_BGR2HSV)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en-US" sz="2601" i="0" dirty="0">
                <a:solidFill>
                  <a:srgbClr val="2E2F30"/>
                </a:solidFill>
                <a:effectLst/>
              </a:rPr>
              <a:t>mask = cv2.inRange(</a:t>
            </a:r>
            <a:r>
              <a:rPr lang="en-US" sz="2601" i="0" dirty="0" err="1">
                <a:solidFill>
                  <a:srgbClr val="2E2F30"/>
                </a:solidFill>
                <a:effectLst/>
              </a:rPr>
              <a:t>hsv_image</a:t>
            </a:r>
            <a:r>
              <a:rPr lang="en-US" sz="2601" i="0" dirty="0">
                <a:solidFill>
                  <a:srgbClr val="2E2F30"/>
                </a:solidFill>
                <a:effectLst/>
              </a:rPr>
              <a:t>, </a:t>
            </a:r>
            <a:r>
              <a:rPr lang="en-US" sz="2601" i="0" dirty="0" err="1">
                <a:solidFill>
                  <a:srgbClr val="2E2F30"/>
                </a:solidFill>
                <a:effectLst/>
              </a:rPr>
              <a:t>lower_bound</a:t>
            </a:r>
            <a:r>
              <a:rPr lang="en-US" sz="2601" i="0" dirty="0">
                <a:solidFill>
                  <a:srgbClr val="2E2F30"/>
                </a:solidFill>
                <a:effectLst/>
              </a:rPr>
              <a:t>, </a:t>
            </a:r>
            <a:r>
              <a:rPr lang="en-US" sz="2601" i="0" dirty="0" err="1">
                <a:solidFill>
                  <a:srgbClr val="2E2F30"/>
                </a:solidFill>
                <a:effectLst/>
              </a:rPr>
              <a:t>upper_bou</a:t>
            </a:r>
            <a:r>
              <a:rPr lang="en-US" sz="2601" dirty="0" err="1">
                <a:solidFill>
                  <a:srgbClr val="2E2F30"/>
                </a:solidFill>
              </a:rPr>
              <a:t>nd</a:t>
            </a:r>
            <a:r>
              <a:rPr lang="en-US" sz="2601" dirty="0">
                <a:solidFill>
                  <a:srgbClr val="2E2F30"/>
                </a:solidFill>
              </a:rPr>
              <a:t>)</a:t>
            </a:r>
            <a:endParaRPr lang="ru-RU" sz="260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F771DB-61B4-4CA8-18CD-3C8AA661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053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FF1A7-6058-AB0D-4427-0D1552C9F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04C7-A4EE-A98D-FD3D-701EA3646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Фильтрация изображений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69792-9464-95D8-E963-111DBC5E3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Фильтрация изображений </a:t>
            </a:r>
            <a:r>
              <a:rPr lang="ru-RU" sz="2800" dirty="0">
                <a:solidFill>
                  <a:srgbClr val="2E2F30"/>
                </a:solidFill>
              </a:rPr>
              <a:t>— процесс обработки изображений, который позволяет улучшить качество изображений, уменьшить шум, выделить детали и подготовить изображения для дальнейшего анализа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2E2F30"/>
                </a:solidFill>
                <a:effectLst/>
              </a:rPr>
              <a:t>Варианты фильтрации: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Гауссовское размытие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Медианная фильтрация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Фильтрация по среднему значению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Билатеральное размытие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796E0-E0B5-AA72-BE7F-71E52047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383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1E2B-16DC-8FA8-923D-0801BA3A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B186-0887-69C1-58BD-2AD8559F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Гауссовское размытие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DE5BA-B652-8E4A-27F9-07B122C72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Гауссовское размытие используется для уменьшения шума и деталей изображения. Оно основано на применении гауссовского ядра, которое придает больший вес пикселям, находящимся ближе к центру, и меньший — пикселям, находящимся дальше.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М</a:t>
            </a:r>
            <a:r>
              <a:rPr lang="ru-RU" sz="2800" i="0" dirty="0">
                <a:solidFill>
                  <a:srgbClr val="2E2F30"/>
                </a:solidFill>
                <a:effectLst/>
              </a:rPr>
              <a:t>етод часто используется перед применением алгоритмов обнаружения краев, так как он помогает сгладить изображение и уменьшить влияние шума.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ru-RU" sz="28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6C8496-B947-02D6-111F-DF116DD21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064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7B78-21EC-7336-550A-98A82B55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6FBC-5D86-737A-BB6D-9A21E75A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Гауссовское размытие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E8DEF-70FE-EB2B-8DD4-C8BC1689A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E2F30"/>
                </a:solidFill>
              </a:rPr>
              <a:t>cv2.GaussianBlur(</a:t>
            </a:r>
            <a:r>
              <a:rPr lang="en-US" sz="2800" b="1" dirty="0" err="1">
                <a:solidFill>
                  <a:srgbClr val="2E2F30"/>
                </a:solidFill>
              </a:rPr>
              <a:t>src</a:t>
            </a:r>
            <a:r>
              <a:rPr lang="en-US" sz="2800" b="1" dirty="0">
                <a:solidFill>
                  <a:srgbClr val="2E2F30"/>
                </a:solidFill>
              </a:rPr>
              <a:t>, </a:t>
            </a:r>
            <a:r>
              <a:rPr lang="en-US" sz="2800" b="1" dirty="0" err="1">
                <a:solidFill>
                  <a:srgbClr val="2E2F30"/>
                </a:solidFill>
              </a:rPr>
              <a:t>ksize</a:t>
            </a:r>
            <a:r>
              <a:rPr lang="en-US" sz="2800" b="1" dirty="0">
                <a:solidFill>
                  <a:srgbClr val="2E2F30"/>
                </a:solidFill>
              </a:rPr>
              <a:t>, </a:t>
            </a:r>
            <a:r>
              <a:rPr lang="en-US" sz="2800" b="1" dirty="0" err="1">
                <a:solidFill>
                  <a:srgbClr val="2E2F30"/>
                </a:solidFill>
              </a:rPr>
              <a:t>sigmaX</a:t>
            </a:r>
            <a:r>
              <a:rPr lang="en-US" sz="2800" b="1" dirty="0">
                <a:solidFill>
                  <a:srgbClr val="2E2F30"/>
                </a:solidFill>
              </a:rPr>
              <a:t>, </a:t>
            </a:r>
            <a:r>
              <a:rPr lang="en-US" sz="2800" b="1" dirty="0" err="1">
                <a:solidFill>
                  <a:srgbClr val="2E2F30"/>
                </a:solidFill>
              </a:rPr>
              <a:t>sigmaY</a:t>
            </a:r>
            <a:r>
              <a:rPr lang="en-US" sz="2800" b="1" dirty="0">
                <a:solidFill>
                  <a:srgbClr val="2E2F30"/>
                </a:solidFill>
              </a:rPr>
              <a:t>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src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dirty="0">
                <a:solidFill>
                  <a:srgbClr val="2E2F30"/>
                </a:solidFill>
              </a:rPr>
              <a:t>и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сходное изображение (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NumPy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 массив), которое будет подвергнуто размытия.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ksize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размер ядра, который должен быть нечетным числом (например, 3, 5, 7)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sigmaX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стандартное отклонение по оси X. Если установлено в 0, стандартное отклонение будет вычислено автоматически на основе размера ядра. Это значение определяет, насколько сильно будет происходить размытие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 err="1">
                <a:solidFill>
                  <a:srgbClr val="2E2F30"/>
                </a:solidFill>
                <a:effectLst/>
              </a:rPr>
              <a:t>sigmaY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стандартное отклонение по оси Y (опционально)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ru-RU" sz="28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C0D0CD-6F79-FDC2-4CE5-80A5C127F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700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8581D-F659-C2A8-2E35-843AC4CE3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6835-3440-5A22-5423-B9A564F00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Медианная фильтрация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820EA-F773-8C7E-EE92-EB2278DE1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Медианная фильтрация эффективно удаляет шум "соль и перец" и сохраняет края. Этот метод часто используется в задачах, где требуется сохранить структуру изображения, несмотря на наличие шума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E2F30"/>
                </a:solidFill>
                <a:effectLst/>
              </a:rPr>
              <a:t>cv2.medianBlur()</a:t>
            </a:r>
            <a:endParaRPr lang="ru-RU" sz="2800" b="1" i="0" dirty="0">
              <a:solidFill>
                <a:srgbClr val="2E2F30"/>
              </a:solidFill>
              <a:effectLst/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src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исходное изображение (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NumPy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 массив), которое будет подвергнуто медианной фильтрации.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ksize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размер ядра, который должен быть нечетным числом (например, 3, 5, 7). Размер ядра определяет область, в которой будет вычисляться медиана.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F3B14C-EE54-C1E5-2634-2C46651F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360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967D1-6D55-6C08-BAD1-1E77316A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45FC-C110-B8EA-0313-B182F4864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Фильтрация по среднему значению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B79B3-11DE-0906-948C-AF37C3964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Метод заменяет значение каждого пикселя на среднее значение пикселей в его окрестности. Он используется для сглаживания изображений и уменьшения шума.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i="0" dirty="0">
                <a:solidFill>
                  <a:srgbClr val="2E2F30"/>
                </a:solidFill>
                <a:effectLst/>
              </a:rPr>
              <a:t>Фильтрация по среднему значению часто используется в задачах, где требуется общее сглаживание изображения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E2F30"/>
                </a:solidFill>
                <a:effectLst/>
              </a:rPr>
              <a:t>cv2.blur()</a:t>
            </a:r>
            <a:endParaRPr lang="ru-RU" sz="2800" b="1" i="0" dirty="0">
              <a:solidFill>
                <a:srgbClr val="2E2F30"/>
              </a:solidFill>
              <a:effectLst/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src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исходное изображение (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NumPy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 массив), которое будет подвергнуто фильтрации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ksize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размер ядра, который должен быть положительным и нечетным числом (например, 3, 5, 7). Размер ядра определяет область, в которой будет вычисляться среднее значени</a:t>
            </a:r>
            <a:r>
              <a:rPr lang="ru-RU" sz="2601" dirty="0">
                <a:solidFill>
                  <a:srgbClr val="2E2F30"/>
                </a:solidFill>
              </a:rPr>
              <a:t>е</a:t>
            </a:r>
            <a:endParaRPr lang="ru-RU" sz="260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0B1A85-A06E-BCF8-9C53-66070D93C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897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14FF9-CED0-F96B-86EB-A7D5BF70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A362-EF7E-469B-0CC3-2ACF46FD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Билатеральное размытие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6A674-A37B-4FED-3873-6E4088CB3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Метод фильтрации изображений, который позволяет сглаживать изображение, сохраняя при этом его края.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В отличие от обычных методов размытия, билатеральное размытие учитывает как пространственные, так и цветовые характеристики пикселей.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Пиксели, находящиеся близко друг к другу и имеющие схожие значения цвета, будут иметь больший вес при вычислении нового значения пикселя, что позволяет эффективно сохранять детали и контуры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i="0" dirty="0">
                <a:solidFill>
                  <a:srgbClr val="2E2F30"/>
                </a:solidFill>
                <a:effectLst/>
              </a:rPr>
              <a:t>Билатеральное размытие часто используется в задачах, где необходимо уменьшить шум изображения, сохраняя при этом важные детали, такие как края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9064F9-1160-5761-D80B-4AC8FD7D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069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78A3-656C-358E-0E21-B3F7C330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7828-F682-5FF2-29A4-233597ED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Билатеральное размытие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57A41-0EB1-4E50-7AB3-CE8206ADD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77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E2F30"/>
                </a:solidFill>
              </a:rPr>
              <a:t>cv2.bilateralFilter()</a:t>
            </a:r>
            <a:endParaRPr lang="ru-RU" sz="2800" b="1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src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исходное изображение, к которому будет применяться билатеральное размытие.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>
                <a:solidFill>
                  <a:srgbClr val="2E2F30"/>
                </a:solidFill>
                <a:effectLst/>
              </a:rPr>
              <a:t>d: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диаметр области, в которой будет применяться фильтр. Это значение определяет, сколько соседних пикселей будет учитываться при вычислении нового значения. Чем больше значение, тем больше область, но это также может увеличить вычислительные затраты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sigmaColor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стандартное отклонение в цветовом пространстве. Это значение определяет, насколько сильно различие в цвете между пикселями влияет на их вес. Чем больше значение, тем более "размытыми" будут цвета, что может привести к более сильному сглаживанию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sigmaSpace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стандартное отклонение в пространственном пространстве. Это значение определяет, насколько сильно расстояние между пикселями влияет на их вес. Чем больше значение, тем больше пикселей будет учитываться, даже если они находятся далеко друг от друга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3C4532-ADB1-9B45-D7BF-DB57C709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084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872F7-8275-9804-3A2A-8ECDAAD7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75A7-A316-2CB1-E0C2-92642B46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Бинаризация 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EF78A-97F0-5C96-9E91-49DA3057A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Бинаризация — </a:t>
            </a:r>
            <a:r>
              <a:rPr lang="ru-RU" sz="2800" dirty="0">
                <a:solidFill>
                  <a:srgbClr val="2E2F30"/>
                </a:solidFill>
              </a:rPr>
              <a:t>процесс преобразования изображения в черно-белый формат, где каждый пиксель принимает одно из двух значений: 0 (черный) или 255 (белый). Этот процесс позволяет выделить объекты на изображении, упрощая дальнейшую обработку и анализ.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Бинаризация часто используется в задачах, связанных с распознаванием объектов, анализом текстов и сегментацией изображений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i="0" dirty="0">
                <a:solidFill>
                  <a:srgbClr val="2E2F30"/>
                </a:solidFill>
                <a:effectLst/>
              </a:rPr>
              <a:t>Методы бинаризации: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Фиксированная бинаризация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Алгоритм </a:t>
            </a:r>
            <a:r>
              <a:rPr lang="ru-RU" sz="2601" dirty="0" err="1">
                <a:solidFill>
                  <a:srgbClr val="2E2F30"/>
                </a:solidFill>
              </a:rPr>
              <a:t>Оцу</a:t>
            </a:r>
            <a:endParaRPr lang="ru-RU" sz="2601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Адаптивная бинаризация</a:t>
            </a:r>
            <a:endParaRPr lang="ru-RU" sz="260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9AD458-47D6-B791-BE3B-15A0FADA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209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B440-A11C-CB0F-88A4-A3EABEF71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9946-AEF5-E770-9A61-4E48A4D1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Фиксированная бинаризация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658F4-8DD0-7FAA-8CF5-9E320B857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Метод использует фиксированный порог для преобразования изображения. Если значение пикселя выше порога, он становится белым (255), если ниже — черным (0).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cv2.threshold():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src</a:t>
            </a:r>
            <a:r>
              <a:rPr lang="ru-RU" sz="2601" b="1" dirty="0">
                <a:solidFill>
                  <a:srgbClr val="2E2F30"/>
                </a:solidFill>
              </a:rPr>
              <a:t>: </a:t>
            </a:r>
            <a:r>
              <a:rPr lang="ru-RU" sz="2601" dirty="0">
                <a:solidFill>
                  <a:srgbClr val="2E2F30"/>
                </a:solidFill>
              </a:rPr>
              <a:t>исходное изображение (обычно в оттенках серого).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thresh</a:t>
            </a:r>
            <a:r>
              <a:rPr lang="ru-RU" sz="2601" b="1" dirty="0">
                <a:solidFill>
                  <a:srgbClr val="2E2F30"/>
                </a:solidFill>
              </a:rPr>
              <a:t>: </a:t>
            </a:r>
            <a:r>
              <a:rPr lang="ru-RU" sz="2601" dirty="0">
                <a:solidFill>
                  <a:srgbClr val="2E2F30"/>
                </a:solidFill>
              </a:rPr>
              <a:t>значение порога, которое используется для бинаризации.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maxval</a:t>
            </a:r>
            <a:r>
              <a:rPr lang="ru-RU" sz="2601" b="1" dirty="0">
                <a:solidFill>
                  <a:srgbClr val="2E2F30"/>
                </a:solidFill>
              </a:rPr>
              <a:t>: </a:t>
            </a:r>
            <a:r>
              <a:rPr lang="ru-RU" sz="2601" dirty="0">
                <a:solidFill>
                  <a:srgbClr val="2E2F30"/>
                </a:solidFill>
              </a:rPr>
              <a:t>максимальное значение, присваиваемое пикселям, превышающим порог (обычно 255).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type</a:t>
            </a:r>
            <a:r>
              <a:rPr lang="ru-RU" sz="2601" b="1" dirty="0">
                <a:solidFill>
                  <a:srgbClr val="2E2F30"/>
                </a:solidFill>
              </a:rPr>
              <a:t>: </a:t>
            </a:r>
            <a:r>
              <a:rPr lang="ru-RU" sz="2601" dirty="0">
                <a:solidFill>
                  <a:srgbClr val="2E2F30"/>
                </a:solidFill>
              </a:rPr>
              <a:t>тип пороговой обработки. Например, cv2.THRESH_BINARY для стандартной бинаризации или cv2.THRESH_BINARY_INV для инверсии.</a:t>
            </a:r>
            <a:endParaRPr lang="ru-RU" sz="2402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7FF31E-0345-113C-ECB1-C8C823097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776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5037-644B-3BA6-EA17-E4F26CD5E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7DD4F-4282-9BA9-644F-3999D9CC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Алгоритм </a:t>
            </a:r>
            <a:r>
              <a:rPr lang="ru-RU" dirty="0" err="1">
                <a:solidFill>
                  <a:srgbClr val="2E2F30"/>
                </a:solidFill>
              </a:rPr>
              <a:t>Оцу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034E4-0087-FEB1-497A-9B96D307A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Алгоритм </a:t>
            </a:r>
            <a:r>
              <a:rPr lang="ru-RU" sz="2800" dirty="0" err="1">
                <a:solidFill>
                  <a:srgbClr val="2E2F30"/>
                </a:solidFill>
              </a:rPr>
              <a:t>Оцу</a:t>
            </a:r>
            <a:r>
              <a:rPr lang="ru-RU" sz="2800" dirty="0">
                <a:solidFill>
                  <a:srgbClr val="2E2F30"/>
                </a:solidFill>
              </a:rPr>
              <a:t> автоматически определяет оптимальный порог для бинаризации, минимизируя внутриклассовую дисперсию. Это особенно полезно для изображений с неоднородным освещением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cv2.threshold()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Аналогичны фиксированной бинаризации,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В качестве типа используется </a:t>
            </a:r>
            <a:r>
              <a:rPr lang="ru-RU" sz="2601" b="1" dirty="0">
                <a:solidFill>
                  <a:srgbClr val="2E2F30"/>
                </a:solidFill>
              </a:rPr>
              <a:t>cv2.THRESH_BINARY + cv2.THRESH_OTSU.</a:t>
            </a:r>
            <a:endParaRPr lang="ru-RU" sz="2601" b="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7FDB2F-8C9E-E1E7-7B33-C911014D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494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A559B-E5F7-5D85-187E-2B9225B6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6740-7FFD-466C-CFA3-033C5D676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Адаптивная бинаризация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3553E-8C5A-51CB-D5BA-D5942051E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77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Метод вычисляет порог для каждого пикселя на основе значений его соседей. Это позволяет лучше справляться с изображениями с неравномерным освещением.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cv2.adaptiveThreshold()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src</a:t>
            </a:r>
            <a:r>
              <a:rPr lang="ru-RU" sz="2601" dirty="0">
                <a:solidFill>
                  <a:srgbClr val="2E2F30"/>
                </a:solidFill>
              </a:rPr>
              <a:t>: исходное изображение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maxValue</a:t>
            </a:r>
            <a:r>
              <a:rPr lang="ru-RU" sz="2601" dirty="0">
                <a:solidFill>
                  <a:srgbClr val="2E2F30"/>
                </a:solidFill>
              </a:rPr>
              <a:t>: максимальное значение, присваиваемое пикселям, превышающим порог (обычно 255)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adaptiveMethod</a:t>
            </a:r>
            <a:r>
              <a:rPr lang="ru-RU" sz="2601" dirty="0">
                <a:solidFill>
                  <a:srgbClr val="2E2F30"/>
                </a:solidFill>
              </a:rPr>
              <a:t>: метод адаптивного вычисления порога. Например, </a:t>
            </a:r>
            <a:r>
              <a:rPr lang="ru-RU" sz="2601" b="1" dirty="0">
                <a:solidFill>
                  <a:srgbClr val="2E2F30"/>
                </a:solidFill>
              </a:rPr>
              <a:t>cv2.ADAPTIVE_THRESH_MEAN_C </a:t>
            </a:r>
            <a:r>
              <a:rPr lang="ru-RU" sz="2601" dirty="0">
                <a:solidFill>
                  <a:srgbClr val="2E2F30"/>
                </a:solidFill>
              </a:rPr>
              <a:t>или </a:t>
            </a:r>
            <a:r>
              <a:rPr lang="ru-RU" sz="2601" b="1" dirty="0">
                <a:solidFill>
                  <a:srgbClr val="2E2F30"/>
                </a:solidFill>
              </a:rPr>
              <a:t>cv2.ADAPTIVE_THRESH_GAUSSIAN_C</a:t>
            </a:r>
            <a:endParaRPr lang="ru-RU" sz="2601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thresholdType</a:t>
            </a:r>
            <a:r>
              <a:rPr lang="ru-RU" sz="2601" dirty="0">
                <a:solidFill>
                  <a:srgbClr val="2E2F30"/>
                </a:solidFill>
              </a:rPr>
              <a:t>: тип пороговой обработки (обычно cv2.THRESH_BINARY)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blockSize</a:t>
            </a:r>
            <a:r>
              <a:rPr lang="ru-RU" sz="2601" b="1" dirty="0">
                <a:solidFill>
                  <a:srgbClr val="2E2F30"/>
                </a:solidFill>
              </a:rPr>
              <a:t>:</a:t>
            </a:r>
            <a:r>
              <a:rPr lang="ru-RU" sz="2601" dirty="0">
                <a:solidFill>
                  <a:srgbClr val="2E2F30"/>
                </a:solidFill>
              </a:rPr>
              <a:t> размер области, используемой для вычисления порога (должен быть нечетным числом).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>
                <a:solidFill>
                  <a:srgbClr val="2E2F30"/>
                </a:solidFill>
              </a:rPr>
              <a:t>C: </a:t>
            </a:r>
            <a:r>
              <a:rPr lang="ru-RU" sz="2601" dirty="0">
                <a:solidFill>
                  <a:srgbClr val="2E2F30"/>
                </a:solidFill>
              </a:rPr>
              <a:t>константа, вычитаемая из среднего или взвешенного среднего, чтобы настроить порог.</a:t>
            </a:r>
            <a:endParaRPr lang="ru-RU" sz="2402" b="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87BC2-6C52-60DA-73BC-5597D2A8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104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7978D-5917-CB8F-DEB9-B476B3E4F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15F8-5754-7FF3-CFCB-007ED7119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Морфологические операции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03D9B-8297-9A5A-711C-CE3C0CB69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Морфологические операции — </a:t>
            </a:r>
            <a:r>
              <a:rPr lang="ru-RU" sz="2800" dirty="0">
                <a:solidFill>
                  <a:srgbClr val="2E2F30"/>
                </a:solidFill>
              </a:rPr>
              <a:t>это набор методов обработки изображений, которые работают на основе формы объектов в изображении. Эти операции особенно полезны для обработки бинарных изображений, но могут также применяться к изображениям в оттенках серого. Основные морфологические операции включают эрозию, дилатацию, открытие и закрытие.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i="0" dirty="0">
                <a:solidFill>
                  <a:srgbClr val="2E2F30"/>
                </a:solidFill>
                <a:effectLst/>
              </a:rPr>
              <a:t>Методы морфологически операций: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i="0" dirty="0">
                <a:solidFill>
                  <a:srgbClr val="2E2F30"/>
                </a:solidFill>
                <a:effectLst/>
              </a:rPr>
              <a:t>Эрозия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Дилатация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Открытие\Закрытие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Морфологический градиент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Верхняя и нижняя шляпа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endParaRPr lang="ru-RU" sz="2601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endParaRPr lang="ru-RU" sz="260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A1DD5F-5E0E-C8A7-F799-8AC78A9A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857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DDF3C-E725-6F10-EAB7-D19EC1305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E640E-2A9D-9C11-A969-33EC2B479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Эрозия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0EB1E-0EAD-CE17-3FE6-5DA1E9CD5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Эрозия уменьшает размеры объектов в бинарном изображении. Она работает, "сжимая" объекты, удаляя пиксели на границах. Это помогает удалить шум и мелкие детали, которые не соответствуют заданной форме.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cv2.erode()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src</a:t>
            </a:r>
            <a:r>
              <a:rPr lang="ru-RU" sz="2601" b="1" dirty="0">
                <a:solidFill>
                  <a:srgbClr val="2E2F30"/>
                </a:solidFill>
              </a:rPr>
              <a:t>: </a:t>
            </a:r>
            <a:r>
              <a:rPr lang="ru-RU" sz="2601" dirty="0">
                <a:solidFill>
                  <a:srgbClr val="2E2F30"/>
                </a:solidFill>
              </a:rPr>
              <a:t>исходное бинарное изображение.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kernel</a:t>
            </a:r>
            <a:r>
              <a:rPr lang="ru-RU" sz="2601" b="1" dirty="0">
                <a:solidFill>
                  <a:srgbClr val="2E2F30"/>
                </a:solidFill>
              </a:rPr>
              <a:t>: </a:t>
            </a:r>
            <a:r>
              <a:rPr lang="ru-RU" sz="2601" dirty="0">
                <a:solidFill>
                  <a:srgbClr val="2E2F30"/>
                </a:solidFill>
              </a:rPr>
              <a:t>ядро (структурный элемент), определяющее форму, с которой будет выполняться операция. Обычно создается с помощью cv2.getStructuringElement().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iterations</a:t>
            </a:r>
            <a:r>
              <a:rPr lang="ru-RU" sz="2601" b="1" dirty="0">
                <a:solidFill>
                  <a:srgbClr val="2E2F30"/>
                </a:solidFill>
              </a:rPr>
              <a:t>: </a:t>
            </a:r>
            <a:r>
              <a:rPr lang="ru-RU" sz="2601" dirty="0">
                <a:solidFill>
                  <a:srgbClr val="2E2F30"/>
                </a:solidFill>
              </a:rPr>
              <a:t>количество итераций операции (по умолчанию 1).</a:t>
            </a:r>
            <a:endParaRPr lang="ru-RU" sz="2203" b="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85DB7B-7AA0-6EA8-1AF3-3A30BD5B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940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6181-1982-AB91-A7F4-245F8DE8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8192-CE76-4336-95A7-AE7DB646A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Дилатация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513CA-0DFE-B7B4-A98F-98682BFCD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Дилатация увеличивает размеры объектов в бинарном изображении. Она работает, "расширяя" объекты, добавляя пиксели к границам. Это полезно для заполнения пробелов и соединения разрозненных частей объектов.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cv2.dilate()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Параметры: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src</a:t>
            </a:r>
            <a:r>
              <a:rPr lang="ru-RU" sz="2601" b="1" dirty="0">
                <a:solidFill>
                  <a:srgbClr val="2E2F30"/>
                </a:solidFill>
              </a:rPr>
              <a:t>:</a:t>
            </a:r>
            <a:r>
              <a:rPr lang="ru-RU" sz="2601" dirty="0">
                <a:solidFill>
                  <a:srgbClr val="2E2F30"/>
                </a:solidFill>
              </a:rPr>
              <a:t> исходное бинарное изображение.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kernel</a:t>
            </a:r>
            <a:r>
              <a:rPr lang="ru-RU" sz="2601" b="1" dirty="0">
                <a:solidFill>
                  <a:srgbClr val="2E2F30"/>
                </a:solidFill>
              </a:rPr>
              <a:t>:</a:t>
            </a:r>
            <a:r>
              <a:rPr lang="ru-RU" sz="2601" dirty="0">
                <a:solidFill>
                  <a:srgbClr val="2E2F30"/>
                </a:solidFill>
              </a:rPr>
              <a:t> ядро (структурный элемент), определяющее форму, с которой будет выполняться операция.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iterations</a:t>
            </a:r>
            <a:r>
              <a:rPr lang="ru-RU" sz="2601" b="1" dirty="0">
                <a:solidFill>
                  <a:srgbClr val="2E2F30"/>
                </a:solidFill>
              </a:rPr>
              <a:t>: </a:t>
            </a:r>
            <a:r>
              <a:rPr lang="ru-RU" sz="2601" dirty="0">
                <a:solidFill>
                  <a:srgbClr val="2E2F30"/>
                </a:solidFill>
              </a:rPr>
              <a:t>количество итераций операции (по умолчанию 1).</a:t>
            </a:r>
            <a:endParaRPr lang="ru-RU" sz="2004" b="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86ACE4-F706-9005-CF2E-BF983402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20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DABE0-0C5C-AE9A-52B5-22910F4E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453AE-A496-9300-F237-6052E3736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Открытие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FBC29-2B79-7F31-5690-45FD9293A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Открытие — это комбинация эрозии, за которой следует дилатация. Эта операция помогает удалить мелкие шумы и сохраняет форму и размер больших объектов. Открытие полезно для удаления небольших объектов из изображения.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cv2.morphologyEx()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src</a:t>
            </a:r>
            <a:r>
              <a:rPr lang="ru-RU" sz="2601" dirty="0">
                <a:solidFill>
                  <a:srgbClr val="2E2F30"/>
                </a:solidFill>
              </a:rPr>
              <a:t>: исходное бинарное изображение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op</a:t>
            </a:r>
            <a:r>
              <a:rPr lang="ru-RU" sz="2601" dirty="0">
                <a:solidFill>
                  <a:srgbClr val="2E2F30"/>
                </a:solidFill>
              </a:rPr>
              <a:t>: тип операции, в данном случае cv2.MORPH_OPEN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kernel</a:t>
            </a:r>
            <a:r>
              <a:rPr lang="ru-RU" sz="2601" dirty="0">
                <a:solidFill>
                  <a:srgbClr val="2E2F30"/>
                </a:solidFill>
              </a:rPr>
              <a:t>: ядро (структурный элемент)</a:t>
            </a:r>
            <a:endParaRPr lang="ru-RU" sz="1805" b="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64ABC4-9E8E-725A-51E9-4CF2DD8D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744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99B0F-3FA3-0E18-BF8A-918848A26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AFA3-372B-090B-DDD9-7FFA5E26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Закрытие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98F04-9956-81DE-A059-E5FCDFB78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Закрытие — это комбинация дилатации, за которой следует эрозия. Эта операция помогает заполнить небольшие отверстия и пробелы в объектах, сохраняя при этом их форму. Закрытие полезно для соединения разрозненных частей объектов.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cv2.morphologyEx()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src</a:t>
            </a:r>
            <a:r>
              <a:rPr lang="ru-RU" sz="2601" dirty="0">
                <a:solidFill>
                  <a:srgbClr val="2E2F30"/>
                </a:solidFill>
              </a:rPr>
              <a:t>: исходное бинарное изображение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op</a:t>
            </a:r>
            <a:r>
              <a:rPr lang="ru-RU" sz="2601" dirty="0">
                <a:solidFill>
                  <a:srgbClr val="2E2F30"/>
                </a:solidFill>
              </a:rPr>
              <a:t>: тип операции, в данном случае cv2.MORPH_CLOSE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kernel</a:t>
            </a:r>
            <a:r>
              <a:rPr lang="ru-RU" sz="2601" dirty="0">
                <a:solidFill>
                  <a:srgbClr val="2E2F30"/>
                </a:solidFill>
              </a:rPr>
              <a:t>: ядро (структурный элемент)</a:t>
            </a:r>
            <a:endParaRPr lang="ru-RU" sz="1606" b="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74ABD8-2C84-6AB0-3B4D-EDE9AAE6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442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A136-A45A-D895-2BB2-D46387E8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3533-34B1-B439-F76D-4B9D03DF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Морфологический градиент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A49AC-D525-6500-D20D-A20C646B7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Морфологический градиент вычисляет разницу между дилатацией и эрозией изображения. Это позволяет выделить границы объектов, подчеркивая изменения в форме.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cv2.morphologyEx()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src</a:t>
            </a:r>
            <a:r>
              <a:rPr lang="ru-RU" sz="2601" dirty="0">
                <a:solidFill>
                  <a:srgbClr val="2E2F30"/>
                </a:solidFill>
              </a:rPr>
              <a:t>: исходное бинарное изображение.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op</a:t>
            </a:r>
            <a:r>
              <a:rPr lang="ru-RU" sz="2601" dirty="0">
                <a:solidFill>
                  <a:srgbClr val="2E2F30"/>
                </a:solidFill>
              </a:rPr>
              <a:t>: тип операции, в данном случае cv2.MORPH_GRADIENT.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kernel</a:t>
            </a:r>
            <a:r>
              <a:rPr lang="ru-RU" sz="2601" dirty="0">
                <a:solidFill>
                  <a:srgbClr val="2E2F30"/>
                </a:solidFill>
              </a:rPr>
              <a:t>: ядро (структурный элемент).</a:t>
            </a:r>
            <a:endParaRPr lang="ru-RU" sz="1407" b="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9BA021-398A-409C-1BA8-25F192A7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366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7B954-0A56-98E2-1594-12B95A65D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A285-905B-8653-D3CC-407C8983E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Верхняя и нижняя шляпа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D9B08-9DA6-71F7-2A4A-6E66DBAAF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Верхняя шляпа (Top Hat) </a:t>
            </a:r>
            <a:r>
              <a:rPr lang="ru-RU" sz="2800" dirty="0">
                <a:solidFill>
                  <a:srgbClr val="2E2F30"/>
                </a:solidFill>
              </a:rPr>
              <a:t>выделяет детали, которые были удалены при открытии. Это полезно для выделения мелких объектов на темном фоне.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Нижняя шляпа (Black Hat) </a:t>
            </a:r>
            <a:r>
              <a:rPr lang="ru-RU" sz="2800" dirty="0">
                <a:solidFill>
                  <a:srgbClr val="2E2F30"/>
                </a:solidFill>
              </a:rPr>
              <a:t>выделяет детали, которые были удалены при закрытии. Это полезно для выделения мелких объектов на светлом фоне.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cv2.morphologyEx()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src</a:t>
            </a:r>
            <a:r>
              <a:rPr lang="ru-RU" sz="2601" dirty="0">
                <a:solidFill>
                  <a:srgbClr val="2E2F30"/>
                </a:solidFill>
              </a:rPr>
              <a:t>: исходное бинарное изображение.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op</a:t>
            </a:r>
            <a:r>
              <a:rPr lang="ru-RU" sz="2601" dirty="0">
                <a:solidFill>
                  <a:srgbClr val="2E2F30"/>
                </a:solidFill>
              </a:rPr>
              <a:t>: тип операции, cv2.MORPH_TOPHAT для верхней шляпы и cv2.MORPH_BLACKHAT для нижней шляпы.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 err="1">
                <a:solidFill>
                  <a:srgbClr val="2E2F30"/>
                </a:solidFill>
              </a:rPr>
              <a:t>kernel</a:t>
            </a:r>
            <a:r>
              <a:rPr lang="ru-RU" sz="2601" dirty="0">
                <a:solidFill>
                  <a:srgbClr val="2E2F30"/>
                </a:solidFill>
              </a:rPr>
              <a:t>: ядро (структурный элемент).</a:t>
            </a:r>
            <a:endParaRPr lang="ru-RU" sz="1208" b="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13439E-A5C7-1558-7FB7-AE847684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419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22DE2-9C62-D555-1B16-2257C294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E3AB-9A6B-83AD-BEB8-8F7864649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Структурный элемент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5C225-5A11-1CAB-483C-44C31F729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700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В контексте морфологических операций,</a:t>
            </a:r>
            <a:r>
              <a:rPr lang="en-US" sz="2800">
                <a:solidFill>
                  <a:srgbClr val="2E2F30"/>
                </a:solidFill>
              </a:rPr>
              <a:t> </a:t>
            </a:r>
            <a:r>
              <a:rPr lang="ru-RU" sz="2800">
                <a:solidFill>
                  <a:srgbClr val="2E2F30"/>
                </a:solidFill>
              </a:rPr>
              <a:t>ядро </a:t>
            </a:r>
            <a:r>
              <a:rPr lang="ru-RU" sz="2800" dirty="0">
                <a:solidFill>
                  <a:srgbClr val="2E2F30"/>
                </a:solidFill>
              </a:rPr>
              <a:t>(или структурный элемент) — это матрица, которая определяет форму и размер области, используемой для обработки изображения. Ядро используется для выполнения операций, таких как эрозия и дилатация, которые являются основными компонентами морфологического градиента.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Ядро определяет, какие пиксели будут учитываться при выполнении морфологических операций. Например, при применении морфологического градиента, ядро используется для вычисления разницы между дилатацией и эрозией изображения. Это позволяет выделить границы объектов, подчеркивая изменения в интенсивности пикселей.</a:t>
            </a:r>
            <a:endParaRPr lang="ru-RU" sz="1208" dirty="0">
              <a:solidFill>
                <a:srgbClr val="2E2F30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Ядро может иметь различные формы и размеры, в зависимости от задачи. Наиболее распространенные формы включают: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Квадратное ядро: используется для обработки изображений с равномерными объектами.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Круглое ядро: лучше подходит для обработки изображений с округлыми формами.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Эллиптическое ядро: используется для более сложных форм.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F0F02D-9F4F-52E6-4905-E1582AAC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241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AAF4D-9DA8-0F3C-AC33-B0D64255E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8E54-D495-7E23-0071-856DE0A4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Структурный элемент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45D57-E66E-584B-D4D9-1FA13576D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В </a:t>
            </a:r>
            <a:r>
              <a:rPr lang="en-US" sz="2800" dirty="0">
                <a:solidFill>
                  <a:srgbClr val="2E2F30"/>
                </a:solidFill>
              </a:rPr>
              <a:t>OpenCV </a:t>
            </a:r>
            <a:r>
              <a:rPr lang="ru-RU" sz="2800" dirty="0">
                <a:solidFill>
                  <a:srgbClr val="2E2F30"/>
                </a:solidFill>
              </a:rPr>
              <a:t>ядро можно создать с помощью функции </a:t>
            </a:r>
            <a:r>
              <a:rPr lang="en-US" sz="2800" b="1" dirty="0">
                <a:solidFill>
                  <a:srgbClr val="2E2F30"/>
                </a:solidFill>
              </a:rPr>
              <a:t>cv2.getStructuringElement()</a:t>
            </a:r>
            <a:r>
              <a:rPr lang="en-US" sz="2800" dirty="0">
                <a:solidFill>
                  <a:srgbClr val="2E2F30"/>
                </a:solidFill>
              </a:rPr>
              <a:t>, </a:t>
            </a:r>
            <a:r>
              <a:rPr lang="ru-RU" sz="2800" dirty="0">
                <a:solidFill>
                  <a:srgbClr val="2E2F30"/>
                </a:solidFill>
              </a:rPr>
              <a:t>где можно указать форму и размер ядра. Например: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Создание квадратного ядра размером 5</a:t>
            </a:r>
            <a:r>
              <a:rPr lang="en-US" sz="2601" dirty="0">
                <a:solidFill>
                  <a:srgbClr val="2E2F30"/>
                </a:solidFill>
              </a:rPr>
              <a:t>x5</a:t>
            </a:r>
            <a:r>
              <a:rPr lang="ru-RU" sz="2601" dirty="0">
                <a:solidFill>
                  <a:srgbClr val="2E2F30"/>
                </a:solidFill>
              </a:rPr>
              <a:t>:</a:t>
            </a:r>
            <a:endParaRPr lang="en-US" sz="2601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en-US" sz="2601" dirty="0">
                <a:solidFill>
                  <a:srgbClr val="2E2F30"/>
                </a:solidFill>
              </a:rPr>
              <a:t>kernel = cv2.getStructuringElement(cv2.MORPH_RECT, (5, 5))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endParaRPr lang="en-US" sz="2601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Создание круглого ядра размером 5: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en-US" sz="2601" dirty="0">
                <a:solidFill>
                  <a:srgbClr val="2E2F30"/>
                </a:solidFill>
              </a:rPr>
              <a:t>kernel = cv2.getStructuringElement(cv2.MORPH_ELLIPSE, (5, 5))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endParaRPr lang="en-US" sz="2601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dirty="0">
                <a:solidFill>
                  <a:srgbClr val="2E2F30"/>
                </a:solidFill>
              </a:rPr>
              <a:t>Создание крестовидного ядра размером 5</a:t>
            </a:r>
            <a:r>
              <a:rPr lang="en-US" sz="2601" dirty="0">
                <a:solidFill>
                  <a:srgbClr val="2E2F30"/>
                </a:solidFill>
              </a:rPr>
              <a:t>x5</a:t>
            </a:r>
            <a:r>
              <a:rPr lang="ru-RU" sz="2601" dirty="0">
                <a:solidFill>
                  <a:srgbClr val="2E2F30"/>
                </a:solidFill>
              </a:rPr>
              <a:t>:</a:t>
            </a:r>
            <a:endParaRPr lang="en-US" sz="2601" dirty="0">
              <a:solidFill>
                <a:srgbClr val="2E2F30"/>
              </a:solidFill>
            </a:endParaRP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en-US" sz="2601" dirty="0">
                <a:solidFill>
                  <a:srgbClr val="2E2F30"/>
                </a:solidFill>
              </a:rPr>
              <a:t>kernel = cv2.getStructuringElement(cv2.MORPH_CROSS, (5, 5))</a:t>
            </a:r>
            <a:endParaRPr lang="ru-RU" sz="2402" dirty="0">
              <a:solidFill>
                <a:srgbClr val="2E2F3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CD73D1-562D-D393-361D-D9879EB2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1856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7BB7-93D3-F02D-DE7B-C7F2FE4C0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0703-8B2E-D8DB-9965-08C191C6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Алгоритм </a:t>
            </a:r>
            <a:r>
              <a:rPr lang="ru-RU" dirty="0" err="1">
                <a:solidFill>
                  <a:srgbClr val="2E2F30"/>
                </a:solidFill>
              </a:rPr>
              <a:t>Кэнни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772AB-22F3-CFC7-CDBB-2D545D005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62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rgbClr val="2E2F30"/>
                </a:solidFill>
              </a:rPr>
              <a:t>cv2.Canny()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en-US" sz="2601" b="1" dirty="0">
                <a:solidFill>
                  <a:srgbClr val="2E2F30"/>
                </a:solidFill>
              </a:rPr>
              <a:t>I</a:t>
            </a:r>
            <a:r>
              <a:rPr lang="ru-RU" sz="2601" b="1" dirty="0" err="1">
                <a:solidFill>
                  <a:srgbClr val="2E2F30"/>
                </a:solidFill>
              </a:rPr>
              <a:t>mage</a:t>
            </a:r>
            <a:r>
              <a:rPr lang="ru-RU" sz="2601" b="1" dirty="0">
                <a:solidFill>
                  <a:srgbClr val="2E2F30"/>
                </a:solidFill>
              </a:rPr>
              <a:t>: </a:t>
            </a:r>
            <a:r>
              <a:rPr lang="ru-RU" sz="2601" dirty="0" err="1">
                <a:solidFill>
                  <a:srgbClr val="2E2F30"/>
                </a:solidFill>
              </a:rPr>
              <a:t>NumPy</a:t>
            </a:r>
            <a:r>
              <a:rPr lang="ru-RU" sz="2601" dirty="0">
                <a:solidFill>
                  <a:srgbClr val="2E2F30"/>
                </a:solidFill>
              </a:rPr>
              <a:t> массив (обычно в оттенках серого). Исходное изображение, к которому будет применяться алгоритм </a:t>
            </a:r>
            <a:r>
              <a:rPr lang="ru-RU" sz="2601" dirty="0" err="1">
                <a:solidFill>
                  <a:srgbClr val="2E2F30"/>
                </a:solidFill>
              </a:rPr>
              <a:t>Кэнни</a:t>
            </a:r>
            <a:r>
              <a:rPr lang="ru-RU" sz="2601" dirty="0">
                <a:solidFill>
                  <a:srgbClr val="2E2F30"/>
                </a:solidFill>
              </a:rPr>
              <a:t>. Обычно перед использованием алгоритма изображение преобразуется в оттенки серого и сглаживается.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en-US" sz="2601" b="1" dirty="0">
                <a:solidFill>
                  <a:srgbClr val="2E2F30"/>
                </a:solidFill>
              </a:rPr>
              <a:t>T</a:t>
            </a:r>
            <a:r>
              <a:rPr lang="ru-RU" sz="2601" b="1" dirty="0">
                <a:solidFill>
                  <a:srgbClr val="2E2F30"/>
                </a:solidFill>
              </a:rPr>
              <a:t>hreshold1 </a:t>
            </a:r>
            <a:r>
              <a:rPr lang="ru-RU" sz="2601" dirty="0">
                <a:solidFill>
                  <a:srgbClr val="2E2F30"/>
                </a:solidFill>
              </a:rPr>
              <a:t>тип: Целое число. Первый порог для определения сильных границ. Пиксели с градиентом выше этого порога будут считаться сильными границами. Этот параметр влияет на чувствительность алгоритма к изменениям в интенсивности.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en-US" sz="2601" b="1" dirty="0">
                <a:solidFill>
                  <a:srgbClr val="2E2F30"/>
                </a:solidFill>
              </a:rPr>
              <a:t>T</a:t>
            </a:r>
            <a:r>
              <a:rPr lang="ru-RU" sz="2601" b="1" dirty="0">
                <a:solidFill>
                  <a:srgbClr val="2E2F30"/>
                </a:solidFill>
              </a:rPr>
              <a:t>hreshold2 </a:t>
            </a:r>
            <a:r>
              <a:rPr lang="ru-RU" sz="2601" dirty="0">
                <a:solidFill>
                  <a:srgbClr val="2E2F30"/>
                </a:solidFill>
              </a:rPr>
              <a:t>тип: Целое число. Второй порог для определения слабых границ. Пиксели с градиентом ниже этого порога будут игнорироваться. Пиксели, значения которых находятся между threshold1 и threshold2, будут считаться слабыми границами и могут быть сохранены, если они соединены с сильными границами.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 err="1">
                <a:solidFill>
                  <a:srgbClr val="2E2F30"/>
                </a:solidFill>
              </a:rPr>
              <a:t>apertureSize</a:t>
            </a:r>
            <a:r>
              <a:rPr lang="ru-RU" sz="2601" dirty="0">
                <a:solidFill>
                  <a:srgbClr val="2E2F30"/>
                </a:solidFill>
              </a:rPr>
              <a:t> (опционально) Тип: Целое число. Размер апертуры для оператора Собеля, используемого для вычисления градиента. Возможные значения: 1, 3, 5 или 7. По умолчанию значение равно 3. Увеличение этого параметра может улучшить обнаружение границ, но также может привести к потере деталей.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dirty="0">
                <a:solidFill>
                  <a:srgbClr val="2E2F30"/>
                </a:solidFill>
              </a:rPr>
              <a:t>L2gradient</a:t>
            </a:r>
            <a:r>
              <a:rPr lang="ru-RU" sz="2601" dirty="0">
                <a:solidFill>
                  <a:srgbClr val="2E2F30"/>
                </a:solidFill>
              </a:rPr>
              <a:t> (опционально) Тип: </a:t>
            </a:r>
            <a:r>
              <a:rPr lang="ru-RU" sz="2601" dirty="0" err="1">
                <a:solidFill>
                  <a:srgbClr val="2E2F30"/>
                </a:solidFill>
              </a:rPr>
              <a:t>Булевый</a:t>
            </a:r>
            <a:r>
              <a:rPr lang="ru-RU" sz="2601" dirty="0">
                <a:solidFill>
                  <a:srgbClr val="2E2F30"/>
                </a:solidFill>
              </a:rPr>
              <a:t> (True/</a:t>
            </a:r>
            <a:r>
              <a:rPr lang="ru-RU" sz="2601" dirty="0" err="1">
                <a:solidFill>
                  <a:srgbClr val="2E2F30"/>
                </a:solidFill>
              </a:rPr>
              <a:t>False</a:t>
            </a:r>
            <a:r>
              <a:rPr lang="ru-RU" sz="2601" dirty="0">
                <a:solidFill>
                  <a:srgbClr val="2E2F30"/>
                </a:solidFill>
              </a:rPr>
              <a:t>). Если установлено в True, используется более точный метод для вычисления градиента, основанный на L2-норме. Если </a:t>
            </a:r>
            <a:r>
              <a:rPr lang="ru-RU" sz="2601" dirty="0" err="1">
                <a:solidFill>
                  <a:srgbClr val="2E2F30"/>
                </a:solidFill>
              </a:rPr>
              <a:t>False</a:t>
            </a:r>
            <a:r>
              <a:rPr lang="ru-RU" sz="2601" dirty="0">
                <a:solidFill>
                  <a:srgbClr val="2E2F30"/>
                </a:solidFill>
              </a:rPr>
              <a:t>, используется L1-норма. По умолчанию значение равно </a:t>
            </a:r>
            <a:r>
              <a:rPr lang="ru-RU" sz="2601" dirty="0" err="1">
                <a:solidFill>
                  <a:srgbClr val="2E2F30"/>
                </a:solidFill>
              </a:rPr>
              <a:t>False</a:t>
            </a:r>
            <a:endParaRPr lang="ru-RU" sz="2601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21144-4DB6-FC5E-677F-F92BF88C7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03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1F4E5-77A0-EB9D-B265-F4FFFE9B1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8F251-3FB1-0453-6939-CCC4962D1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Выделение контуров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A86A7-B0FB-33C8-4D4B-14D300A22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550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i="0" dirty="0">
                <a:solidFill>
                  <a:srgbClr val="2E2F30"/>
                </a:solidFill>
                <a:effectLst/>
              </a:rPr>
              <a:t>Функция </a:t>
            </a:r>
            <a:r>
              <a:rPr lang="ru-RU" sz="2800" b="1" i="0" dirty="0">
                <a:solidFill>
                  <a:srgbClr val="2E2F30"/>
                </a:solidFill>
                <a:effectLst/>
              </a:rPr>
              <a:t>cv2.findContours() </a:t>
            </a:r>
            <a:r>
              <a:rPr lang="ru-RU" sz="2800" i="0" dirty="0">
                <a:solidFill>
                  <a:srgbClr val="2E2F30"/>
                </a:solidFill>
                <a:effectLst/>
              </a:rPr>
              <a:t>используется для обнаружения контуров в бинарном изображении. Контуры представляют собой кривые, соединяющие все непрерывные точки (по границе), имеющие одинаковый цвет или интенсивность. Эта функция возвращает список контуров и иерархию контуров.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i="0" dirty="0">
                <a:solidFill>
                  <a:srgbClr val="2E2F30"/>
                </a:solidFill>
                <a:effectLst/>
              </a:rPr>
              <a:t>Параметры: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image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Исходное бинарное изображение (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NumPy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 массив), в котором будут искаться контуры. Обычно это изображение, полученное после бинаризации.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mode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Режим поиска контуров. Возможные значения: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>
                <a:solidFill>
                  <a:srgbClr val="2E2F30"/>
                </a:solidFill>
                <a:effectLst/>
              </a:rPr>
              <a:t>cv2.RETR_EXTERNAL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: Извлекает только внешние контуры.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>
                <a:solidFill>
                  <a:srgbClr val="2E2F30"/>
                </a:solidFill>
                <a:effectLst/>
              </a:rPr>
              <a:t>cv2.RETR_LIST: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Извлекает все контуры, не устанавливая иерархию.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>
                <a:solidFill>
                  <a:srgbClr val="2E2F30"/>
                </a:solidFill>
                <a:effectLst/>
              </a:rPr>
              <a:t>cv2.RETR_TREE: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Извлекает все контуры и создает иерархию.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method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Метод аппроксимации контуров. Возможные значения:</a:t>
            </a:r>
          </a:p>
          <a:p>
            <a:pPr marL="1369314" lvl="2" indent="-457200" algn="just">
              <a:buFont typeface="Arial" panose="020B0604020202020204" pitchFamily="34" charset="0"/>
              <a:buChar char="•"/>
            </a:pPr>
            <a:r>
              <a:rPr lang="ru-RU" sz="2401" b="1" i="0" dirty="0">
                <a:solidFill>
                  <a:srgbClr val="2E2F30"/>
                </a:solidFill>
                <a:effectLst/>
              </a:rPr>
              <a:t>cv2.CHAIN_APPROX_SIMPLE</a:t>
            </a:r>
            <a:r>
              <a:rPr lang="ru-RU" sz="2401" i="0" dirty="0">
                <a:solidFill>
                  <a:srgbClr val="2E2F30"/>
                </a:solidFill>
                <a:effectLst/>
              </a:rPr>
              <a:t>: Упрощает контуры, сохраняя только конечные точки.</a:t>
            </a:r>
          </a:p>
          <a:p>
            <a:pPr marL="1369314" lvl="2" indent="-457200" algn="just">
              <a:buFont typeface="Arial" panose="020B0604020202020204" pitchFamily="34" charset="0"/>
              <a:buChar char="•"/>
            </a:pPr>
            <a:r>
              <a:rPr lang="ru-RU" sz="2401" b="1" i="0" dirty="0">
                <a:solidFill>
                  <a:srgbClr val="2E2F30"/>
                </a:solidFill>
                <a:effectLst/>
              </a:rPr>
              <a:t>cv2.CHAIN_APPROX_NONE: </a:t>
            </a:r>
            <a:r>
              <a:rPr lang="ru-RU" sz="2401" i="0" dirty="0">
                <a:solidFill>
                  <a:srgbClr val="2E2F30"/>
                </a:solidFill>
                <a:effectLst/>
              </a:rPr>
              <a:t>Сохраняет все точки контура.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i="0" dirty="0">
                <a:solidFill>
                  <a:srgbClr val="2E2F30"/>
                </a:solidFill>
                <a:effectLst/>
              </a:rPr>
              <a:t>Возвращаемые значения: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contours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Список найденных контуров.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hierarchy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Иерархия контуров (опционально).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8C492-2FC3-7DDD-4F62-702D867E8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5195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95A7-CB4C-8FA2-9131-C44798E5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23182-AEDE-3A2A-409B-83B34746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Рисование контуров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47A4F-B8CA-FD41-5007-BE0826AD0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>
            <a:normAutofit fontScale="77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Визуализация контуров на изображении осуществляется с помощью cv2.drawContours(), что позволяет проверять работу алгоритмов и анализировать результаты.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2E2F30"/>
                </a:solidFill>
              </a:rPr>
              <a:t>Рисование контуров помогает лучше понять, как алгоритмы обрабатывают изображения и какие области они выделяют.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i="0" dirty="0">
                <a:solidFill>
                  <a:srgbClr val="2E2F30"/>
                </a:solidFill>
                <a:effectLst/>
              </a:rPr>
              <a:t>Параметры: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image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исходное изображение (</a:t>
            </a:r>
            <a:r>
              <a:rPr lang="ru-RU" sz="2601" i="0" dirty="0" err="1">
                <a:solidFill>
                  <a:srgbClr val="2E2F30"/>
                </a:solidFill>
                <a:effectLst/>
              </a:rPr>
              <a:t>NumPy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 массив), на котором будут рисоваться контуры.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contours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список контуров, полученных с помощью cv2.findContours().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contourIdx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индекс контура, который нужно нарисовать. Если установлен в -1, рисуются все контуры.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color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цвет контуров в формате BGR (например, (255, 0, 0) для красного).</a:t>
            </a:r>
          </a:p>
          <a:p>
            <a:pPr marL="913257" lvl="1" indent="-457200" algn="just">
              <a:buFont typeface="Arial" panose="020B0604020202020204" pitchFamily="34" charset="0"/>
              <a:buChar char="•"/>
            </a:pPr>
            <a:r>
              <a:rPr lang="ru-RU" sz="2601" b="1" i="0" dirty="0" err="1">
                <a:solidFill>
                  <a:srgbClr val="2E2F30"/>
                </a:solidFill>
                <a:effectLst/>
              </a:rPr>
              <a:t>thickness</a:t>
            </a:r>
            <a:r>
              <a:rPr lang="ru-RU" sz="2601" b="1" i="0" dirty="0">
                <a:solidFill>
                  <a:srgbClr val="2E2F30"/>
                </a:solidFill>
                <a:effectLst/>
              </a:rPr>
              <a:t>: </a:t>
            </a:r>
            <a:r>
              <a:rPr lang="ru-RU" sz="2601" i="0" dirty="0">
                <a:solidFill>
                  <a:srgbClr val="2E2F30"/>
                </a:solidFill>
                <a:effectLst/>
              </a:rPr>
              <a:t>толщина линий контуров. Если установлено в -1, контуры будут заполнены.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D27962-F810-5435-BBB5-8181B3DE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8997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CFAF8-112A-EED9-AFF2-7D29510C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D806E-1178-086E-BA44-C0919112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10743360" cy="740592"/>
          </a:xfrm>
        </p:spPr>
        <p:txBody>
          <a:bodyPr anchor="t" anchorCtr="0"/>
          <a:lstStyle/>
          <a:p>
            <a:r>
              <a:rPr lang="ru-RU" dirty="0">
                <a:solidFill>
                  <a:srgbClr val="2E2F30"/>
                </a:solidFill>
              </a:rPr>
              <a:t>Заключение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D506A-C68B-864A-CE46-EB99C42C6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3923" y="1640592"/>
            <a:ext cx="10743360" cy="4288570"/>
          </a:xfrm>
        </p:spPr>
        <p:txBody>
          <a:bodyPr/>
          <a:lstStyle/>
          <a:p>
            <a:pPr algn="just"/>
            <a:r>
              <a:rPr lang="ru-RU" sz="2800" b="1" dirty="0" err="1">
                <a:solidFill>
                  <a:srgbClr val="2E2F30"/>
                </a:solidFill>
              </a:rPr>
              <a:t>OpenCV</a:t>
            </a:r>
            <a:r>
              <a:rPr lang="ru-RU" sz="2800" b="1" dirty="0">
                <a:solidFill>
                  <a:srgbClr val="2E2F30"/>
                </a:solidFill>
              </a:rPr>
              <a:t> </a:t>
            </a:r>
            <a:r>
              <a:rPr lang="ru-RU" sz="2800" dirty="0">
                <a:solidFill>
                  <a:srgbClr val="2E2F30"/>
                </a:solidFill>
              </a:rPr>
              <a:t>предоставляет мощные инструменты для обработки изображений и видео, включая фильтрацию, обнаружение объектов и работу с цветами. Библиотека широко используется в различных областях, таких как медицина, безопасность и автономные системы.</a:t>
            </a:r>
            <a:endParaRPr lang="ru-RU" sz="2800" i="0" dirty="0">
              <a:solidFill>
                <a:srgbClr val="2E2F30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6484E-34F2-48C5-EA75-874A283B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730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83B779-785B-C549-98BC-FD63CEA37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417" y="2209157"/>
            <a:ext cx="10423443" cy="1211112"/>
          </a:xfrm>
        </p:spPr>
        <p:txBody>
          <a:bodyPr/>
          <a:lstStyle/>
          <a:p>
            <a:pPr algn="ctr"/>
            <a:br>
              <a:rPr lang="ru-RU" b="1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Машинное обучение для Интернета вещей и мобильных устройств </a:t>
            </a:r>
          </a:p>
          <a:p>
            <a:pPr algn="ctr"/>
            <a:r>
              <a:rPr lang="ru-RU" b="1" dirty="0">
                <a:solidFill>
                  <a:schemeClr val="tx1"/>
                </a:solidFill>
              </a:rPr>
              <a:t>Лекция 2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29D0BB-8804-7B41-9155-FB8E9E7E9C6A}"/>
              </a:ext>
            </a:extLst>
          </p:cNvPr>
          <p:cNvSpPr txBox="1"/>
          <p:nvPr/>
        </p:nvSpPr>
        <p:spPr>
          <a:xfrm>
            <a:off x="913800" y="6125935"/>
            <a:ext cx="2146926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ru-RU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Москва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54B461-B1EF-4C2F-B85C-61C1A216FF74}"/>
              </a:ext>
            </a:extLst>
          </p:cNvPr>
          <p:cNvSpPr txBox="1">
            <a:spLocks/>
          </p:cNvSpPr>
          <p:nvPr/>
        </p:nvSpPr>
        <p:spPr>
          <a:xfrm>
            <a:off x="5757964" y="6268932"/>
            <a:ext cx="1090706" cy="488214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21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ru-RU" sz="1600" dirty="0">
                <a:solidFill>
                  <a:schemeClr val="tx1"/>
                </a:solidFill>
              </a:rPr>
              <a:t>Москва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</a:rPr>
              <a:t>202</a:t>
            </a:r>
            <a:r>
              <a:rPr lang="en-US" sz="1600">
                <a:solidFill>
                  <a:schemeClr val="tx1"/>
                </a:solidFill>
              </a:rPr>
              <a:t>6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C5CF70-79B2-4A30-B2E2-979DD981D5A2}"/>
              </a:ext>
            </a:extLst>
          </p:cNvPr>
          <p:cNvSpPr txBox="1">
            <a:spLocks/>
          </p:cNvSpPr>
          <p:nvPr/>
        </p:nvSpPr>
        <p:spPr>
          <a:xfrm>
            <a:off x="1514638" y="5057820"/>
            <a:ext cx="10423443" cy="7485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2114" rtl="0" eaLnBrk="1" latinLnBrk="0" hangingPunct="1">
              <a:lnSpc>
                <a:spcPct val="100000"/>
              </a:lnSpc>
              <a:spcBef>
                <a:spcPts val="998"/>
              </a:spcBef>
              <a:buFont typeface="Arial" panose="020B0604020202020204" pitchFamily="34" charset="0"/>
              <a:buNone/>
              <a:defRPr sz="2394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6057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9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2114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7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68171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4228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0285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6342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2399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8456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ru-RU" sz="1600" dirty="0">
              <a:solidFill>
                <a:schemeClr val="tx1"/>
              </a:solidFill>
            </a:endParaRPr>
          </a:p>
          <a:p>
            <a:pPr algn="r"/>
            <a:r>
              <a:rPr lang="ru-RU" sz="1600" dirty="0">
                <a:solidFill>
                  <a:schemeClr val="tx1"/>
                </a:solidFill>
              </a:rPr>
              <a:t>Преподаватель: Бочкарёв Пётр Владимирович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03180E-FB5C-4CB7-9738-63947DF4B87F}"/>
              </a:ext>
            </a:extLst>
          </p:cNvPr>
          <p:cNvSpPr txBox="1">
            <a:spLocks/>
          </p:cNvSpPr>
          <p:nvPr/>
        </p:nvSpPr>
        <p:spPr>
          <a:xfrm>
            <a:off x="913800" y="194108"/>
            <a:ext cx="10423443" cy="2821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2114" rtl="0" eaLnBrk="1" latinLnBrk="0" hangingPunct="1">
              <a:lnSpc>
                <a:spcPct val="100000"/>
              </a:lnSpc>
              <a:spcBef>
                <a:spcPts val="998"/>
              </a:spcBef>
              <a:buFont typeface="Arial" panose="020B0604020202020204" pitchFamily="34" charset="0"/>
              <a:buNone/>
              <a:defRPr sz="2394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6057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9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2114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79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68171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4228" indent="0" algn="ctr" defTabSz="912114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rgbClr val="6D6D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0285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6342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2399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8456" indent="0" algn="ctr" defTabSz="912114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200" dirty="0">
                <a:solidFill>
                  <a:schemeClr val="tx1"/>
                </a:solidFill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“РОССИЙСКАЯ АКАДЕМИЯ НАРОДНОГО ХОЗЯЙСТВА 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И ГОСУДАРСТВЕННОЙ СЛУЖБЫ при ПРЕЗИДЕНТЕ РОССИЙСКОЙ ФЕДЕРАЦИИ”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Институт экономики, математики и информационных технологий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Факультет информационных технологий и анализа данных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Кафедра системного анализа и информатики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 </a:t>
            </a:r>
            <a:br>
              <a:rPr lang="ru-RU" sz="1200" dirty="0">
                <a:solidFill>
                  <a:schemeClr val="tx1"/>
                </a:solidFill>
              </a:rPr>
            </a:br>
            <a:br>
              <a:rPr lang="ru-RU" sz="2000" dirty="0">
                <a:solidFill>
                  <a:schemeClr val="tx1"/>
                </a:solidFill>
              </a:rPr>
            </a:br>
            <a:endParaRPr lang="ru-RU" b="1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353FB73-C0CA-45DC-9C1E-2C10FCBA219D}"/>
              </a:ext>
            </a:extLst>
          </p:cNvPr>
          <p:cNvSpPr/>
          <p:nvPr/>
        </p:nvSpPr>
        <p:spPr>
          <a:xfrm>
            <a:off x="3240087" y="3995543"/>
            <a:ext cx="6480175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200" dirty="0"/>
              <a:t>Направление подготовки: 09.04.03 Прикладная информатика</a:t>
            </a:r>
          </a:p>
          <a:p>
            <a:pPr algn="ctr"/>
            <a:r>
              <a:rPr lang="ru-RU" sz="1200" dirty="0"/>
              <a:t>Направленность (профиль) образовательной программы:</a:t>
            </a:r>
          </a:p>
          <a:p>
            <a:pPr algn="ctr"/>
            <a:r>
              <a:rPr lang="ru-RU" sz="1200" dirty="0"/>
              <a:t>«Анализ данных и искусственный интеллект»</a:t>
            </a:r>
          </a:p>
          <a:p>
            <a:pPr algn="ctr"/>
            <a:r>
              <a:rPr lang="ru-RU" sz="1200" dirty="0"/>
              <a:t>(очная форма обучения)</a:t>
            </a:r>
          </a:p>
        </p:txBody>
      </p:sp>
    </p:spTree>
    <p:extLst>
      <p:ext uri="{BB962C8B-B14F-4D97-AF65-F5344CB8AC3E}">
        <p14:creationId xmlns:p14="http://schemas.microsoft.com/office/powerpoint/2010/main" val="10663724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RANEPA_education">
      <a:dk1>
        <a:srgbClr val="000000"/>
      </a:dk1>
      <a:lt1>
        <a:srgbClr val="FFFFFF"/>
      </a:lt1>
      <a:dk2>
        <a:srgbClr val="404040"/>
      </a:dk2>
      <a:lt2>
        <a:srgbClr val="E7E6E6"/>
      </a:lt2>
      <a:accent1>
        <a:srgbClr val="FF5C36"/>
      </a:accent1>
      <a:accent2>
        <a:srgbClr val="ED7D31"/>
      </a:accent2>
      <a:accent3>
        <a:srgbClr val="879DC1"/>
      </a:accent3>
      <a:accent4>
        <a:srgbClr val="A30236"/>
      </a:accent4>
      <a:accent5>
        <a:srgbClr val="3F5CBD"/>
      </a:accent5>
      <a:accent6>
        <a:srgbClr val="12A3AD"/>
      </a:accent6>
      <a:hlink>
        <a:srgbClr val="6D6D6D"/>
      </a:hlink>
      <a:folHlink>
        <a:srgbClr val="AFAB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3950</TotalTime>
  <Words>3726</Words>
  <Application>Microsoft Office PowerPoint</Application>
  <PresentationFormat>Произвольный</PresentationFormat>
  <Paragraphs>308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4" baseType="lpstr">
      <vt:lpstr>Arial</vt:lpstr>
      <vt:lpstr>Calibri</vt:lpstr>
      <vt:lpstr>system-ui</vt:lpstr>
      <vt:lpstr>Тема Office</vt:lpstr>
      <vt:lpstr>Презентация PowerPoint</vt:lpstr>
      <vt:lpstr>Введение в компьютерное зрение</vt:lpstr>
      <vt:lpstr>Компьютерное зрение в IoT в различных областях:</vt:lpstr>
      <vt:lpstr>OpenCV</vt:lpstr>
      <vt:lpstr>Чтение и отображение изображений</vt:lpstr>
      <vt:lpstr>Чтение и отображение изображений</vt:lpstr>
      <vt:lpstr>Отображение изображений</vt:lpstr>
      <vt:lpstr>Основные операции с изображениями</vt:lpstr>
      <vt:lpstr>Изменение размера изображений</vt:lpstr>
      <vt:lpstr>Обрезка изображений</vt:lpstr>
      <vt:lpstr>Поворот изображений</vt:lpstr>
      <vt:lpstr>Преобразование цветового пространства</vt:lpstr>
      <vt:lpstr>Конвертация в серый цвет</vt:lpstr>
      <vt:lpstr>Другие цветовые пространства</vt:lpstr>
      <vt:lpstr>Применение цветовых фильтров</vt:lpstr>
      <vt:lpstr>Фильтрация изображений</vt:lpstr>
      <vt:lpstr>Гауссовское размытие</vt:lpstr>
      <vt:lpstr>Гауссовское размытие</vt:lpstr>
      <vt:lpstr>Медианная фильтрация</vt:lpstr>
      <vt:lpstr>Фильтрация по среднему значению</vt:lpstr>
      <vt:lpstr>Билатеральное размытие</vt:lpstr>
      <vt:lpstr>Билатеральное размытие</vt:lpstr>
      <vt:lpstr>Бинаризация </vt:lpstr>
      <vt:lpstr>Фиксированная бинаризация</vt:lpstr>
      <vt:lpstr>Алгоритм Оцу</vt:lpstr>
      <vt:lpstr>Адаптивная бинаризация</vt:lpstr>
      <vt:lpstr>Морфологические операции</vt:lpstr>
      <vt:lpstr>Эрозия</vt:lpstr>
      <vt:lpstr>Дилатация</vt:lpstr>
      <vt:lpstr>Открытие</vt:lpstr>
      <vt:lpstr>Закрытие</vt:lpstr>
      <vt:lpstr>Морфологический градиент</vt:lpstr>
      <vt:lpstr>Верхняя и нижняя шляпа</vt:lpstr>
      <vt:lpstr>Структурный элемент</vt:lpstr>
      <vt:lpstr>Структурный элемент</vt:lpstr>
      <vt:lpstr>Алгоритм Кэнни</vt:lpstr>
      <vt:lpstr>Выделение контуров</vt:lpstr>
      <vt:lpstr>Рисование контуров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Пётр Бочкарёв</cp:lastModifiedBy>
  <cp:revision>275</cp:revision>
  <dcterms:created xsi:type="dcterms:W3CDTF">2022-10-16T16:54:41Z</dcterms:created>
  <dcterms:modified xsi:type="dcterms:W3CDTF">2026-04-21T19:47:08Z</dcterms:modified>
</cp:coreProperties>
</file>